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37"/>
  </p:notesMasterIdLst>
  <p:sldIdLst>
    <p:sldId id="256" r:id="rId2"/>
    <p:sldId id="257" r:id="rId3"/>
    <p:sldId id="338" r:id="rId4"/>
    <p:sldId id="377" r:id="rId5"/>
    <p:sldId id="387" r:id="rId6"/>
    <p:sldId id="388" r:id="rId7"/>
    <p:sldId id="405" r:id="rId8"/>
    <p:sldId id="389" r:id="rId9"/>
    <p:sldId id="411" r:id="rId10"/>
    <p:sldId id="406" r:id="rId11"/>
    <p:sldId id="412" r:id="rId12"/>
    <p:sldId id="378" r:id="rId13"/>
    <p:sldId id="390" r:id="rId14"/>
    <p:sldId id="407" r:id="rId15"/>
    <p:sldId id="394" r:id="rId16"/>
    <p:sldId id="408" r:id="rId17"/>
    <p:sldId id="395" r:id="rId18"/>
    <p:sldId id="409" r:id="rId19"/>
    <p:sldId id="410" r:id="rId20"/>
    <p:sldId id="391" r:id="rId21"/>
    <p:sldId id="397" r:id="rId22"/>
    <p:sldId id="398" r:id="rId23"/>
    <p:sldId id="413" r:id="rId24"/>
    <p:sldId id="414" r:id="rId25"/>
    <p:sldId id="415" r:id="rId26"/>
    <p:sldId id="416" r:id="rId27"/>
    <p:sldId id="417" r:id="rId28"/>
    <p:sldId id="418" r:id="rId29"/>
    <p:sldId id="419" r:id="rId30"/>
    <p:sldId id="420" r:id="rId31"/>
    <p:sldId id="421" r:id="rId32"/>
    <p:sldId id="423" r:id="rId33"/>
    <p:sldId id="422" r:id="rId34"/>
    <p:sldId id="424" r:id="rId35"/>
    <p:sldId id="28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23F"/>
    <a:srgbClr val="019C9E"/>
    <a:srgbClr val="1B3564"/>
    <a:srgbClr val="02CCCD"/>
    <a:srgbClr val="0087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47" autoAdjust="0"/>
    <p:restoredTop sz="94627"/>
  </p:normalViewPr>
  <p:slideViewPr>
    <p:cSldViewPr snapToGrid="0" snapToObjects="1" showGuides="1">
      <p:cViewPr varScale="1">
        <p:scale>
          <a:sx n="59" d="100"/>
          <a:sy n="59" d="100"/>
        </p:scale>
        <p:origin x="696" y="4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1BA01-4CF0-E845-9229-DE17C0526CE2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76A42-0CB5-524A-BAE0-17E265E9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17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5C74C-68D2-D742-9230-7F3639F6D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3C271-E6AB-674E-9268-7A6EF4D24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9BC6A-C078-CE47-959A-1414D9B50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CB4A4-11FC-6B42-9953-30D264E8DD50}" type="datetime1">
              <a:rPr lang="en-ID" smtClean="0"/>
              <a:t>29/06/2026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0F980-7A27-6F4E-B3A5-DB73B86D5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BA3C8-A500-E549-973C-404D191F4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359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68EBF-DCA6-4241-9A21-A3BD8594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F458C-C33D-CE47-83F3-23298F516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9E4C0-8961-B54E-8DEE-96E39B332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45CF4-0622-EE4B-8137-F2BC6601C092}" type="datetime1">
              <a:rPr lang="en-ID" smtClean="0"/>
              <a:t>29/06/2026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88ED5-F7F3-C74D-8A93-13E28D97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22305-0C09-1448-ADB2-B445723EC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1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4A5BC-10C6-C840-AEE3-A35ADCC1A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27651-39EE-B449-9345-06F37A2AC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18575-1B75-F047-B16F-98511D8A0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3FAA-399A-7D4C-8610-E5BAB6B6EBCB}" type="datetime1">
              <a:rPr lang="en-ID" smtClean="0"/>
              <a:t>29/06/2026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18CC8-6DF7-664D-8570-F8C48359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7471F-7D62-D44E-9158-583B68DC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86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1A54-D8DB-9D4D-9B67-F552FC8C6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9C282-A550-794E-911A-1E6B3FC75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00628-9184-B84E-87F4-F3F65C02A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01817-54DF-304D-AC01-1B6E32F68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E01A-A094-A14F-AB34-CFF274E22176}" type="datetime1">
              <a:rPr lang="en-ID" smtClean="0"/>
              <a:t>29/06/2026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9A10-843B-B541-B173-57556875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7A1B0-CBB3-484E-932C-FEF2B9B6D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0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C5B27-9510-444D-9CCF-86F82C31B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3AE11-AC89-4845-A6DC-D9D4E88FC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DBF98-6DBB-EA40-9333-17B06F4C8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6DD3BD-5404-114F-845C-300BFDEB0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9CEF0-8D67-A144-96D9-EA87DB01C2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51319F-5C1C-544A-9648-093322C8F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8254-FE3A-4348-B843-227ED71E6410}" type="datetime1">
              <a:rPr lang="en-ID" smtClean="0"/>
              <a:t>29/06/2026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5FF3E1-CDA1-064B-9600-19C4F233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213D3A-CCFD-5242-804E-2A6D7663F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99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93623-1C04-4744-AAF6-9E1C3CFD2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93FF2-DD35-FA48-BDA7-383D43AAB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84F43-0F0C-894F-AD86-AC484E80A2FF}" type="datetime1">
              <a:rPr lang="en-ID" smtClean="0"/>
              <a:t>29/06/2026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28954-687D-AA44-B8CE-364BC52D2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2AE56-AB37-BA42-9E21-7FF5264B1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89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371717-D6DE-374A-91CC-810AFC863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1D2F-29BE-A04F-975A-420F79960F13}" type="datetime1">
              <a:rPr lang="en-ID" smtClean="0"/>
              <a:t>29/06/2026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A53643-05F7-5C41-83BB-CEEE0FDA6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F22FA-CD45-394B-9565-C7BC5111C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2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E1F9-A2DC-F94A-8270-5A582438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490B3-D1CF-974D-A463-C7AB0B377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F12C4-285B-BF48-BDC0-CFB67F195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AB57A-AD21-1542-AC68-23D9D32F1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4B51-62DA-A54D-B663-C67FBC7056A3}" type="datetime1">
              <a:rPr lang="en-ID" smtClean="0"/>
              <a:t>29/06/2026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D18C4-76EF-E044-845D-00849516F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6CBEA-0B6B-A34D-A73A-A0E7F4B3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26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5B493-ABEE-C34C-BE40-952FB2D22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1C183-0863-234C-A48F-0EF0CD67B4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720E8-0C06-8642-ADA4-65A53EE72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60698-6180-D04C-B6A0-A1E36DA5B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5750-E466-0A45-87C8-7010EBE1F5F4}" type="datetime1">
              <a:rPr lang="en-ID" smtClean="0"/>
              <a:t>29/06/2026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D7C76B-F415-6F4A-9719-FE9B081D4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DF363-F927-2140-95D2-D03D0BDF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576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4B55-8553-9F4E-B46F-90448014E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DF68C4-5DAF-4540-A3BA-2C5B98F90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C26AE-2623-F649-AAFB-A802EE6C4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0693-092A-8E4F-B3D7-90CA63F94508}" type="datetime1">
              <a:rPr lang="en-ID" smtClean="0"/>
              <a:t>29/06/2026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D9378-F066-504D-A1B5-9E2912C54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482A4-9C9E-BD4A-9C24-2A98EF89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69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20A813-2200-AE43-B8AD-23962C4075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D7F03-C0B8-9247-9DB9-A9360A0C2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AF6F1-7B58-8243-BAA1-866B922E9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4C3D0-B830-4E4E-8AFC-B7FA7D7AB41A}" type="datetime1">
              <a:rPr lang="en-ID" smtClean="0"/>
              <a:t>29/06/2026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434A2-979B-8148-8D10-955CAAFC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D9430-F85F-7944-A456-C40CF9EEC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225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8A1124-CE0C-6749-8A95-A4C09CAA0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264AA-320C-7448-9397-4B8E20D0B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61CED-6CAE-2742-B693-4A0D099D8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36E04-9E6C-6946-9A42-DF0DD415E6EF}" type="datetime1">
              <a:rPr lang="en-ID" smtClean="0"/>
              <a:t>29/06/2026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66CD4-F5F5-8C48-90D9-B54422E0D6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5DD67-32C2-804E-852B-FFA7686F1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4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anas.nasrul02@gmail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graphical user interface, text&#10;&#10;Description automatically generated">
            <a:extLst>
              <a:ext uri="{FF2B5EF4-FFF2-40B4-BE49-F238E27FC236}">
                <a16:creationId xmlns:a16="http://schemas.microsoft.com/office/drawing/2014/main" id="{F5A7E44A-D120-3F44-AFEB-760B85598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F84204-4689-7A41-8B0B-E76AAACBF6CB}"/>
              </a:ext>
            </a:extLst>
          </p:cNvPr>
          <p:cNvSpPr txBox="1"/>
          <p:nvPr/>
        </p:nvSpPr>
        <p:spPr>
          <a:xfrm>
            <a:off x="356109" y="2546633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err="1">
                <a:solidFill>
                  <a:schemeClr val="bg1"/>
                </a:solidFill>
              </a:rPr>
              <a:t>Pertemuan</a:t>
            </a:r>
            <a:r>
              <a:rPr lang="en-ID" dirty="0">
                <a:solidFill>
                  <a:schemeClr val="bg1"/>
                </a:solidFill>
              </a:rPr>
              <a:t> 14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FF5B3-2C0B-384E-8F37-2CAA137F8584}"/>
              </a:ext>
            </a:extLst>
          </p:cNvPr>
          <p:cNvSpPr txBox="1"/>
          <p:nvPr/>
        </p:nvSpPr>
        <p:spPr>
          <a:xfrm>
            <a:off x="356109" y="2828835"/>
            <a:ext cx="83203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0" b="1" dirty="0" err="1">
                <a:solidFill>
                  <a:schemeClr val="bg1"/>
                </a:solidFill>
              </a:rPr>
              <a:t>Pemrograman</a:t>
            </a:r>
            <a:r>
              <a:rPr lang="en-US" sz="6400" b="1" dirty="0">
                <a:solidFill>
                  <a:schemeClr val="bg1"/>
                </a:solidFill>
              </a:rPr>
              <a:t> Back-End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BCFFAB-A61F-0B49-A66C-A1E4BF68AA93}"/>
              </a:ext>
            </a:extLst>
          </p:cNvPr>
          <p:cNvSpPr txBox="1"/>
          <p:nvPr/>
        </p:nvSpPr>
        <p:spPr>
          <a:xfrm>
            <a:off x="356109" y="6179849"/>
            <a:ext cx="1516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www.itts.ac.id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CBCA83-D1D9-3F45-A11F-F8EEB9B844C1}"/>
              </a:ext>
            </a:extLst>
          </p:cNvPr>
          <p:cNvSpPr txBox="1"/>
          <p:nvPr/>
        </p:nvSpPr>
        <p:spPr>
          <a:xfrm>
            <a:off x="8050496" y="399258"/>
            <a:ext cx="3785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i="1" dirty="0">
                <a:solidFill>
                  <a:schemeClr val="bg1"/>
                </a:solidFill>
              </a:rPr>
              <a:t>Pusat </a:t>
            </a:r>
            <a:r>
              <a:rPr lang="en-US" i="1" dirty="0" err="1">
                <a:solidFill>
                  <a:schemeClr val="bg1"/>
                </a:solidFill>
              </a:rPr>
              <a:t>Teknologi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Nasion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Berkelas</a:t>
            </a:r>
            <a:r>
              <a:rPr lang="en-US" i="1" dirty="0">
                <a:solidFill>
                  <a:schemeClr val="bg1"/>
                </a:solidFill>
              </a:rPr>
              <a:t> Dunia</a:t>
            </a:r>
          </a:p>
        </p:txBody>
      </p:sp>
    </p:spTree>
    <p:extLst>
      <p:ext uri="{BB962C8B-B14F-4D97-AF65-F5344CB8AC3E}">
        <p14:creationId xmlns:p14="http://schemas.microsoft.com/office/powerpoint/2010/main" val="187192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3E26422A-6CDB-F44E-BF74-9EA951EC2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06C78D-07EF-8E41-9764-0E98B9B57473}"/>
              </a:ext>
            </a:extLst>
          </p:cNvPr>
          <p:cNvSpPr txBox="1"/>
          <p:nvPr/>
        </p:nvSpPr>
        <p:spPr>
          <a:xfrm>
            <a:off x="8642708" y="399258"/>
            <a:ext cx="3193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9525CA-6759-DA44-980E-E9AC2A161040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3CC19A-1914-D54D-B4C1-52FA9C0AC8D9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FFDF66-1FA1-2943-B6B0-184D61720CE8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2E7FD8-D4C1-FD4C-83F4-E65383AC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2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45ED24-750F-EE4C-9B8F-A0F2E3D6FC55}"/>
              </a:ext>
            </a:extLst>
          </p:cNvPr>
          <p:cNvSpPr txBox="1"/>
          <p:nvPr/>
        </p:nvSpPr>
        <p:spPr>
          <a:xfrm>
            <a:off x="4827351" y="1303867"/>
            <a:ext cx="2537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err="1"/>
              <a:t>Selamat</a:t>
            </a:r>
            <a:r>
              <a:rPr lang="en-US" sz="2800" b="1" dirty="0"/>
              <a:t> </a:t>
            </a:r>
            <a:r>
              <a:rPr lang="en-US" sz="2800" b="1" dirty="0" err="1"/>
              <a:t>Datang</a:t>
            </a:r>
            <a:endParaRPr lang="en-US" sz="28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EFCF8C-DCC5-9440-83F7-1DFD3D84E5F2}"/>
              </a:ext>
            </a:extLst>
          </p:cNvPr>
          <p:cNvSpPr/>
          <p:nvPr/>
        </p:nvSpPr>
        <p:spPr>
          <a:xfrm>
            <a:off x="5757068" y="1913799"/>
            <a:ext cx="677864" cy="96305"/>
          </a:xfrm>
          <a:prstGeom prst="rect">
            <a:avLst/>
          </a:prstGeom>
          <a:solidFill>
            <a:srgbClr val="019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B62D34-6B74-E445-BEB3-F3DB74F17F83}"/>
              </a:ext>
            </a:extLst>
          </p:cNvPr>
          <p:cNvSpPr txBox="1"/>
          <p:nvPr/>
        </p:nvSpPr>
        <p:spPr>
          <a:xfrm>
            <a:off x="5299952" y="4147614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>
                <a:solidFill>
                  <a:srgbClr val="008789"/>
                </a:solidFill>
              </a:rPr>
              <a:t>Anas</a:t>
            </a:r>
            <a:r>
              <a:rPr lang="en-US" b="1" dirty="0">
                <a:solidFill>
                  <a:srgbClr val="008789"/>
                </a:solidFill>
              </a:rPr>
              <a:t> </a:t>
            </a:r>
            <a:r>
              <a:rPr lang="en-US" b="1" dirty="0" err="1">
                <a:solidFill>
                  <a:srgbClr val="008789"/>
                </a:solidFill>
              </a:rPr>
              <a:t>Nasrulloh</a:t>
            </a:r>
            <a:endParaRPr lang="en-US" b="1" dirty="0">
              <a:solidFill>
                <a:srgbClr val="008789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C9DFA8-FEC1-0D4B-84F1-B7DF40326598}"/>
              </a:ext>
            </a:extLst>
          </p:cNvPr>
          <p:cNvSpPr txBox="1"/>
          <p:nvPr/>
        </p:nvSpPr>
        <p:spPr>
          <a:xfrm>
            <a:off x="3435927" y="4524313"/>
            <a:ext cx="74260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 err="1"/>
              <a:t>Alamat</a:t>
            </a:r>
            <a:r>
              <a:rPr lang="en-ID" dirty="0"/>
              <a:t> 		: </a:t>
            </a:r>
            <a:r>
              <a:rPr lang="sv-SE" dirty="0"/>
              <a:t>Jl. Kapuk Poglar, Cengkareng Jakarta Barat 11710</a:t>
            </a:r>
            <a:endParaRPr lang="en-US" dirty="0"/>
          </a:p>
          <a:p>
            <a:pPr algn="just"/>
            <a:r>
              <a:rPr lang="en-US" dirty="0"/>
              <a:t>No </a:t>
            </a:r>
            <a:r>
              <a:rPr lang="en-US" dirty="0" err="1"/>
              <a:t>Hp</a:t>
            </a:r>
            <a:r>
              <a:rPr lang="en-US" dirty="0"/>
              <a:t> 		: 087809703900</a:t>
            </a:r>
          </a:p>
          <a:p>
            <a:pPr algn="just"/>
            <a:r>
              <a:rPr lang="en-ID" dirty="0"/>
              <a:t>Telegram 		:  </a:t>
            </a:r>
            <a:r>
              <a:rPr lang="en-ID" dirty="0" err="1"/>
              <a:t>anasnasrul</a:t>
            </a:r>
            <a:endParaRPr lang="en-US" dirty="0"/>
          </a:p>
          <a:p>
            <a:pPr algn="just"/>
            <a:r>
              <a:rPr lang="en-ID" dirty="0"/>
              <a:t>Email 		: </a:t>
            </a:r>
            <a:r>
              <a:rPr lang="en-ID" dirty="0">
                <a:hlinkClick r:id="rId3"/>
              </a:rPr>
              <a:t>anas.nasrul02@gmail.com</a:t>
            </a:r>
            <a:endParaRPr lang="en-ID" dirty="0"/>
          </a:p>
          <a:p>
            <a:pPr algn="just"/>
            <a:r>
              <a:rPr lang="en-ID" dirty="0" err="1"/>
              <a:t>Pendidikan</a:t>
            </a:r>
            <a:r>
              <a:rPr lang="en-ID" dirty="0"/>
              <a:t> </a:t>
            </a:r>
            <a:r>
              <a:rPr lang="en-ID" dirty="0" err="1"/>
              <a:t>terakhir</a:t>
            </a:r>
            <a:r>
              <a:rPr lang="en-ID" dirty="0"/>
              <a:t>	: </a:t>
            </a:r>
            <a:r>
              <a:rPr lang="en-US" dirty="0" err="1"/>
              <a:t>Universitas</a:t>
            </a:r>
            <a:r>
              <a:rPr lang="en-US" dirty="0"/>
              <a:t> Budi </a:t>
            </a:r>
            <a:r>
              <a:rPr lang="en-US" dirty="0" err="1"/>
              <a:t>Luhur</a:t>
            </a:r>
            <a:r>
              <a:rPr lang="en-US" dirty="0"/>
              <a:t> S2 </a:t>
            </a:r>
            <a:r>
              <a:rPr lang="en-US" dirty="0" err="1"/>
              <a:t>jurusan</a:t>
            </a:r>
            <a:r>
              <a:rPr lang="en-US" dirty="0"/>
              <a:t> Magister </a:t>
            </a:r>
            <a:r>
              <a:rPr lang="en-US" dirty="0" err="1"/>
              <a:t>Komputer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0" y="2309082"/>
            <a:ext cx="1143000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88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3E26422A-6CDB-F44E-BF74-9EA951EC2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06C78D-07EF-8E41-9764-0E98B9B57473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9525CA-6759-DA44-980E-E9AC2A161040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3CC19A-1914-D54D-B4C1-52FA9C0AC8D9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FFDF66-1FA1-2943-B6B0-184D61720CE8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2E7FD8-D4C1-FD4C-83F4-E65383AC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3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9C8818-5010-8240-9BE7-747D900F9803}"/>
              </a:ext>
            </a:extLst>
          </p:cNvPr>
          <p:cNvSpPr txBox="1"/>
          <p:nvPr/>
        </p:nvSpPr>
        <p:spPr>
          <a:xfrm>
            <a:off x="356108" y="1347171"/>
            <a:ext cx="6360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/>
              <a:t>Arsitektur</a:t>
            </a:r>
            <a:r>
              <a:rPr lang="en-US" sz="4000" b="1" dirty="0"/>
              <a:t> Back-End </a:t>
            </a:r>
            <a:r>
              <a:rPr lang="en-US" sz="4000" b="1" dirty="0" err="1"/>
              <a:t>Lanjutan</a:t>
            </a:r>
            <a:endParaRPr lang="en-US" sz="40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4A7D50-038E-D241-98BE-CD476340AD07}"/>
              </a:ext>
            </a:extLst>
          </p:cNvPr>
          <p:cNvSpPr/>
          <p:nvPr/>
        </p:nvSpPr>
        <p:spPr>
          <a:xfrm>
            <a:off x="356109" y="2265735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17440C-6241-364D-B824-CFC2D2EC9962}"/>
              </a:ext>
            </a:extLst>
          </p:cNvPr>
          <p:cNvSpPr txBox="1"/>
          <p:nvPr/>
        </p:nvSpPr>
        <p:spPr>
          <a:xfrm>
            <a:off x="356108" y="2496130"/>
            <a:ext cx="5423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n-US" dirty="0" err="1"/>
              <a:t>Arsitektur</a:t>
            </a:r>
            <a:r>
              <a:rPr lang="en-US" dirty="0"/>
              <a:t> Back-End </a:t>
            </a:r>
            <a:r>
              <a:rPr lang="en-US" dirty="0" err="1"/>
              <a:t>Lanjutan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584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79388-DBD9-F593-47B2-9695B8A1B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8721B35D-E314-3374-1FF7-9F23283F6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945C45-E601-E17B-E8D1-3F55FE35FE22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CD40E9-64C5-59EE-BACB-024FB358D127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B64AFB-2730-11DE-45B6-B15B7E6EC41F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83D31A-5FDD-C210-E80D-3EC1AEF80EBE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8BE00CE-9EF6-87EC-1BD6-D04D39CD7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4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C6BC3-0C20-5A4C-438E-6D0BC5C03BEE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4000" b="1" dirty="0"/>
              <a:t>Apa itu Arsitektur Perangkat Lunak?</a:t>
            </a:r>
            <a:endParaRPr lang="en-US" sz="40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C8EF20-4157-4ADF-B8FB-2CD77B22C770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8F8A72-B897-47B6-6CF2-7703660B2103}"/>
              </a:ext>
            </a:extLst>
          </p:cNvPr>
          <p:cNvSpPr txBox="1"/>
          <p:nvPr/>
        </p:nvSpPr>
        <p:spPr>
          <a:xfrm>
            <a:off x="356108" y="2440469"/>
            <a:ext cx="57224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nn-NO" dirty="0"/>
              <a:t>Arsitektur perangkat lunak adalah cara mengatur dan menyusun komponen dalam sebuah aplikasi.</a:t>
            </a:r>
          </a:p>
          <a:p>
            <a:pPr algn="just"/>
            <a:endParaRPr lang="nn-NO" dirty="0"/>
          </a:p>
          <a:p>
            <a:pPr algn="just"/>
            <a:r>
              <a:rPr lang="nn-NO" dirty="0"/>
              <a:t>Tujuannya:</a:t>
            </a:r>
          </a:p>
          <a:p>
            <a:pPr algn="just"/>
            <a:endParaRPr lang="nn-NO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nn-NO" dirty="0"/>
              <a:t>Mudah dikembangkan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nn-NO" dirty="0"/>
              <a:t>Mudah dipelihara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nn-NO" dirty="0"/>
              <a:t>Mudah diperbaiki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nn-NO" dirty="0"/>
              <a:t>Mudah diperluas</a:t>
            </a:r>
          </a:p>
        </p:txBody>
      </p:sp>
    </p:spTree>
    <p:extLst>
      <p:ext uri="{BB962C8B-B14F-4D97-AF65-F5344CB8AC3E}">
        <p14:creationId xmlns:p14="http://schemas.microsoft.com/office/powerpoint/2010/main" val="4162819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470ED-18E6-5B4F-6329-EB9A72A37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2D3F5EAA-4F77-C199-8CDF-4B5A3753F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994D2E-DD7E-44CF-03AE-15346C1F5FDA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1A56A5-A016-5FD9-5782-FB23F76BA044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3A53B1-4DB4-83C7-FD9D-DA30310E8041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E786EB-10A1-C1D2-E608-94B054E7D9BB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0E38D4-1378-8BD4-8625-0D1626BA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5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EB6CE-0723-773F-A585-84D487755B97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4000" b="1" dirty="0" err="1"/>
              <a:t>Analogi</a:t>
            </a:r>
            <a:r>
              <a:rPr lang="en-ID" sz="4000" b="1" dirty="0"/>
              <a:t> </a:t>
            </a:r>
            <a:r>
              <a:rPr lang="en-ID" sz="4000" b="1" dirty="0" err="1"/>
              <a:t>Arsitektur</a:t>
            </a:r>
            <a:r>
              <a:rPr lang="en-ID" sz="4000" b="1" dirty="0"/>
              <a:t> </a:t>
            </a:r>
            <a:r>
              <a:rPr lang="en-ID" sz="4000" b="1" dirty="0" err="1"/>
              <a:t>Bangunan</a:t>
            </a:r>
            <a:endParaRPr lang="en-ID" sz="40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017AFC-F3F6-11C2-4309-B02169E469DA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C20E54-CA77-C74A-558A-1B5921FE596C}"/>
              </a:ext>
            </a:extLst>
          </p:cNvPr>
          <p:cNvSpPr txBox="1"/>
          <p:nvPr/>
        </p:nvSpPr>
        <p:spPr>
          <a:xfrm>
            <a:off x="356108" y="2440469"/>
            <a:ext cx="53367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membangun</a:t>
            </a:r>
            <a:r>
              <a:rPr lang="en-ID" dirty="0"/>
              <a:t> </a:t>
            </a:r>
            <a:r>
              <a:rPr lang="en-ID" dirty="0" err="1"/>
              <a:t>rumah</a:t>
            </a:r>
            <a:r>
              <a:rPr lang="en-ID" dirty="0"/>
              <a:t>, </a:t>
            </a:r>
            <a:r>
              <a:rPr lang="en-ID" dirty="0" err="1"/>
              <a:t>diperlukan</a:t>
            </a:r>
            <a:r>
              <a:rPr lang="en-ID" dirty="0"/>
              <a:t>:</a:t>
            </a:r>
          </a:p>
          <a:p>
            <a:pPr algn="just"/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/>
              <a:t>Denah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 err="1"/>
              <a:t>Pembagian</a:t>
            </a:r>
            <a:r>
              <a:rPr lang="en-ID" dirty="0"/>
              <a:t> </a:t>
            </a:r>
            <a:r>
              <a:rPr lang="en-ID" dirty="0" err="1"/>
              <a:t>ruangan</a:t>
            </a:r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/>
              <a:t>Jalur </a:t>
            </a:r>
            <a:r>
              <a:rPr lang="en-ID" dirty="0" err="1"/>
              <a:t>listrik</a:t>
            </a:r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/>
              <a:t>Jalur air</a:t>
            </a:r>
          </a:p>
          <a:p>
            <a:pPr algn="just"/>
            <a:endParaRPr lang="en-ID" dirty="0"/>
          </a:p>
          <a:p>
            <a:pPr algn="just"/>
            <a:r>
              <a:rPr lang="en-ID" dirty="0" err="1"/>
              <a:t>Begitu</a:t>
            </a:r>
            <a:r>
              <a:rPr lang="en-ID" dirty="0"/>
              <a:t> juga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.</a:t>
            </a:r>
          </a:p>
          <a:p>
            <a:pPr algn="just"/>
            <a:endParaRPr lang="en-ID" dirty="0"/>
          </a:p>
          <a:p>
            <a:pPr algn="just"/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membutuhkan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yang </a:t>
            </a:r>
            <a:r>
              <a:rPr lang="en-ID" dirty="0" err="1"/>
              <a:t>jelas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7076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D5AE6-A78D-817D-1D35-7A4CBE6B8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529B7395-1286-AADD-14D2-1DFFBC329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054B04-D3F8-10E6-196C-34E7CF5115D9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4D010F-36D3-9017-3194-1C41E8FA0B9E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5627E0-9893-C39A-F47C-7904E70E02BA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DB19A5-30E8-10FA-3FE5-DE4336967DCC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5139734-5980-A84C-8856-D9BC8F6B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6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0286F-D400-6DE3-3FF0-787480CF2AD0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4000" b="1" dirty="0" err="1"/>
              <a:t>Mengapa</a:t>
            </a:r>
            <a:r>
              <a:rPr lang="es-ES" sz="4000" b="1" dirty="0"/>
              <a:t> </a:t>
            </a:r>
            <a:r>
              <a:rPr lang="es-ES" sz="4000" b="1" dirty="0" err="1"/>
              <a:t>Arsitektur</a:t>
            </a:r>
            <a:r>
              <a:rPr lang="es-ES" sz="4000" b="1" dirty="0"/>
              <a:t> </a:t>
            </a:r>
            <a:r>
              <a:rPr lang="es-ES" sz="4000" b="1" dirty="0" err="1"/>
              <a:t>Penting</a:t>
            </a:r>
            <a:r>
              <a:rPr lang="es-ES" sz="4000" b="1" dirty="0"/>
              <a:t>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6A75A0-C38A-B753-3E16-00035D699984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1851D-A535-2056-F2BE-46ABCDD24DB3}"/>
              </a:ext>
            </a:extLst>
          </p:cNvPr>
          <p:cNvSpPr txBox="1"/>
          <p:nvPr/>
        </p:nvSpPr>
        <p:spPr>
          <a:xfrm>
            <a:off x="356108" y="2440469"/>
            <a:ext cx="53367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 err="1"/>
              <a:t>Tanpa</a:t>
            </a:r>
            <a:r>
              <a:rPr lang="es-ES" dirty="0"/>
              <a:t> </a:t>
            </a:r>
            <a:r>
              <a:rPr lang="es-ES" dirty="0" err="1"/>
              <a:t>arsitektur</a:t>
            </a:r>
            <a:r>
              <a:rPr lang="es-ES" dirty="0"/>
              <a:t>:</a:t>
            </a:r>
          </a:p>
          <a:p>
            <a:pPr algn="just"/>
            <a:endParaRPr lang="es-E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 err="1"/>
              <a:t>Kode</a:t>
            </a:r>
            <a:r>
              <a:rPr lang="es-ES" dirty="0"/>
              <a:t> </a:t>
            </a:r>
            <a:r>
              <a:rPr lang="es-ES" dirty="0" err="1"/>
              <a:t>berantakan</a:t>
            </a:r>
            <a:endParaRPr lang="es-E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 err="1"/>
              <a:t>Sulit</a:t>
            </a:r>
            <a:r>
              <a:rPr lang="es-ES" dirty="0"/>
              <a:t> </a:t>
            </a:r>
            <a:r>
              <a:rPr lang="es-ES" dirty="0" err="1"/>
              <a:t>mencari</a:t>
            </a:r>
            <a:r>
              <a:rPr lang="es-ES" dirty="0"/>
              <a:t> bug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 err="1"/>
              <a:t>Sulit</a:t>
            </a:r>
            <a:r>
              <a:rPr lang="es-ES" dirty="0"/>
              <a:t> </a:t>
            </a:r>
            <a:r>
              <a:rPr lang="es-ES" dirty="0" err="1"/>
              <a:t>bekerja</a:t>
            </a:r>
            <a:r>
              <a:rPr lang="es-ES" dirty="0"/>
              <a:t> </a:t>
            </a:r>
            <a:r>
              <a:rPr lang="es-ES" dirty="0" err="1"/>
              <a:t>dalam</a:t>
            </a:r>
            <a:r>
              <a:rPr lang="es-ES" dirty="0"/>
              <a:t> </a:t>
            </a:r>
            <a:r>
              <a:rPr lang="es-ES" dirty="0" err="1"/>
              <a:t>tim</a:t>
            </a:r>
            <a:endParaRPr lang="es-E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 err="1"/>
              <a:t>Sulit</a:t>
            </a:r>
            <a:r>
              <a:rPr lang="es-ES" dirty="0"/>
              <a:t> </a:t>
            </a:r>
            <a:r>
              <a:rPr lang="es-ES" dirty="0" err="1"/>
              <a:t>menambah</a:t>
            </a:r>
            <a:r>
              <a:rPr lang="es-ES" dirty="0"/>
              <a:t> </a:t>
            </a:r>
            <a:r>
              <a:rPr lang="es-ES" dirty="0" err="1"/>
              <a:t>fitur</a:t>
            </a:r>
            <a:r>
              <a:rPr lang="es-ES" dirty="0"/>
              <a:t> </a:t>
            </a:r>
            <a:r>
              <a:rPr lang="es-ES" dirty="0" err="1"/>
              <a:t>baru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8610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829DC-BEAD-ED67-5ABC-9842B0863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1EC41A32-7611-599B-C5AD-6F9293150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AC4004-4888-B592-32D4-5BFD62D5FFAF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68FB82-6230-4A84-7187-0C1775E270CF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970676-F7C9-288D-316A-CEA658AE71A7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3972A7-C2F2-90FF-26DD-CF49F27B1FA9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2E420D6-B987-0BD3-56DF-679F387AC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7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C980E-8B98-D684-A358-C81DC214A3E9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4000" b="1" dirty="0" err="1"/>
              <a:t>Contoh</a:t>
            </a:r>
            <a:r>
              <a:rPr lang="es-ES" sz="4000" b="1" dirty="0"/>
              <a:t> </a:t>
            </a:r>
            <a:r>
              <a:rPr lang="es-ES" sz="4000" b="1" dirty="0" err="1"/>
              <a:t>Aplikasi</a:t>
            </a:r>
            <a:r>
              <a:rPr lang="es-ES" sz="4000" b="1" dirty="0"/>
              <a:t> </a:t>
            </a:r>
            <a:r>
              <a:rPr lang="es-ES" sz="4000" b="1" dirty="0" err="1"/>
              <a:t>Kecil</a:t>
            </a:r>
            <a:endParaRPr lang="es-ES" sz="40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080B72-3D79-5749-C867-F0BC5131583C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F5CD41-DD04-B708-7321-4727DC1A4245}"/>
              </a:ext>
            </a:extLst>
          </p:cNvPr>
          <p:cNvSpPr txBox="1"/>
          <p:nvPr/>
        </p:nvSpPr>
        <p:spPr>
          <a:xfrm>
            <a:off x="356108" y="2440469"/>
            <a:ext cx="53367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Pada </a:t>
            </a:r>
            <a:r>
              <a:rPr lang="es-ES" dirty="0" err="1"/>
              <a:t>awalnya</a:t>
            </a:r>
            <a:r>
              <a:rPr lang="es-ES" dirty="0"/>
              <a:t> </a:t>
            </a:r>
            <a:r>
              <a:rPr lang="es-ES" dirty="0" err="1"/>
              <a:t>aplikasi</a:t>
            </a:r>
            <a:r>
              <a:rPr lang="es-ES" dirty="0"/>
              <a:t> </a:t>
            </a:r>
            <a:r>
              <a:rPr lang="es-ES" dirty="0" err="1"/>
              <a:t>hanya</a:t>
            </a:r>
            <a:r>
              <a:rPr lang="es-ES" dirty="0"/>
              <a:t> </a:t>
            </a:r>
            <a:r>
              <a:rPr lang="es-ES" dirty="0" err="1"/>
              <a:t>memiliki</a:t>
            </a:r>
            <a:r>
              <a:rPr lang="es-ES" dirty="0"/>
              <a:t>: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app.py</a:t>
            </a:r>
          </a:p>
          <a:p>
            <a:pPr algn="just"/>
            <a:endParaRPr lang="es-ES" dirty="0"/>
          </a:p>
          <a:p>
            <a:pPr algn="just"/>
            <a:r>
              <a:rPr lang="es-ES" dirty="0" err="1"/>
              <a:t>Semua</a:t>
            </a:r>
            <a:r>
              <a:rPr lang="es-ES" dirty="0"/>
              <a:t> </a:t>
            </a:r>
            <a:r>
              <a:rPr lang="es-ES" dirty="0" err="1"/>
              <a:t>kode</a:t>
            </a:r>
            <a:r>
              <a:rPr lang="es-ES" dirty="0"/>
              <a:t> </a:t>
            </a:r>
            <a:r>
              <a:rPr lang="es-ES" dirty="0" err="1"/>
              <a:t>ditulis</a:t>
            </a:r>
            <a:r>
              <a:rPr lang="es-ES" dirty="0"/>
              <a:t> </a:t>
            </a:r>
            <a:r>
              <a:rPr lang="es-ES" dirty="0" err="1"/>
              <a:t>dalam</a:t>
            </a:r>
            <a:r>
              <a:rPr lang="es-ES" dirty="0"/>
              <a:t> </a:t>
            </a:r>
            <a:r>
              <a:rPr lang="es-ES" dirty="0" err="1"/>
              <a:t>satu</a:t>
            </a:r>
            <a:r>
              <a:rPr lang="es-ES" dirty="0"/>
              <a:t> file.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Masih </a:t>
            </a:r>
            <a:r>
              <a:rPr lang="es-ES" dirty="0" err="1"/>
              <a:t>mudah</a:t>
            </a:r>
            <a:r>
              <a:rPr lang="es-ES" dirty="0"/>
              <a:t> </a:t>
            </a:r>
            <a:r>
              <a:rPr lang="es-ES" dirty="0" err="1"/>
              <a:t>dikelola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6422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DC388-285C-F515-0D59-9CEEB1A56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8B290537-98DF-D55C-0592-E8ACD5F8E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A94216-9943-A4DB-09A1-F049633CA89D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DC4C13-CFC6-8ABB-C74E-4B7309AA8584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2D215A-AE1E-64F6-4822-36CC35C2E1D0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EFA990-893A-4BC1-CA01-924FD033F633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A2E54C2-A831-932F-4604-F14FC4BC3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8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4C2933-039E-DE45-A707-C8E6D9C0EBDE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4000" b="1" dirty="0" err="1"/>
              <a:t>Masalah</a:t>
            </a:r>
            <a:r>
              <a:rPr lang="en-ID" sz="4000" b="1" dirty="0"/>
              <a:t> Saat </a:t>
            </a:r>
            <a:r>
              <a:rPr lang="en-ID" sz="4000" b="1" dirty="0" err="1"/>
              <a:t>Aplikasi</a:t>
            </a:r>
            <a:r>
              <a:rPr lang="en-ID" sz="4000" b="1" dirty="0"/>
              <a:t> </a:t>
            </a:r>
            <a:r>
              <a:rPr lang="en-ID" sz="4000" b="1" dirty="0" err="1"/>
              <a:t>Membesar</a:t>
            </a:r>
            <a:endParaRPr lang="en-ID" sz="40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64995E-89D6-B963-FF45-0F55C86D56D3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A3D0AA-1C0E-AB76-C6DB-24F9BBA47909}"/>
              </a:ext>
            </a:extLst>
          </p:cNvPr>
          <p:cNvSpPr txBox="1"/>
          <p:nvPr/>
        </p:nvSpPr>
        <p:spPr>
          <a:xfrm>
            <a:off x="356108" y="2440469"/>
            <a:ext cx="53367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/>
              <a:t>Ketika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berkembang</a:t>
            </a:r>
            <a:r>
              <a:rPr lang="en-ID" dirty="0"/>
              <a:t>:</a:t>
            </a:r>
          </a:p>
          <a:p>
            <a:pPr algn="just"/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/>
              <a:t>Login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 err="1"/>
              <a:t>Produk</a:t>
            </a:r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 err="1"/>
              <a:t>Transaksi</a:t>
            </a:r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 err="1"/>
              <a:t>Laporan</a:t>
            </a:r>
            <a:endParaRPr lang="en-ID" dirty="0"/>
          </a:p>
          <a:p>
            <a:pPr algn="just"/>
            <a:endParaRPr lang="en-ID" dirty="0"/>
          </a:p>
          <a:p>
            <a:pPr algn="just"/>
            <a:r>
              <a:rPr lang="en-ID" dirty="0"/>
              <a:t>File </a:t>
            </a:r>
            <a:r>
              <a:rPr lang="en-ID" dirty="0" err="1"/>
              <a:t>menjadi</a:t>
            </a:r>
            <a:r>
              <a:rPr lang="en-ID" dirty="0"/>
              <a:t> sangat </a:t>
            </a:r>
            <a:r>
              <a:rPr lang="en-ID" dirty="0" err="1"/>
              <a:t>panjang</a:t>
            </a:r>
            <a:r>
              <a:rPr lang="en-ID" dirty="0"/>
              <a:t> dan </a:t>
            </a:r>
            <a:r>
              <a:rPr lang="en-ID" dirty="0" err="1"/>
              <a:t>sulit</a:t>
            </a:r>
            <a:r>
              <a:rPr lang="en-ID" dirty="0"/>
              <a:t> </a:t>
            </a:r>
            <a:r>
              <a:rPr lang="en-ID" dirty="0" err="1"/>
              <a:t>dipahami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4229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312E9-D420-0F6B-F6F4-DF4B5C084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45886CEF-1E6A-FCD1-6F90-91FDB5F17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93E86D-148B-07D5-A4A8-F25EB6FC4B93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20DAC7-881F-8D88-361B-669EE0F34E30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AB8D0D-7621-E859-3BA3-7C900CD79576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339D64-91BE-07C2-8A1D-5F1140694AEB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906783A-EE79-1CA6-BB1F-F9C7E318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9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592DF8-E391-7371-14E5-357D401D06DD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4000" b="1" dirty="0"/>
              <a:t>Solusi: </a:t>
            </a:r>
            <a:r>
              <a:rPr lang="en-ID" sz="4000" b="1" dirty="0" err="1"/>
              <a:t>Pemisahan</a:t>
            </a:r>
            <a:r>
              <a:rPr lang="en-ID" sz="4000" b="1" dirty="0"/>
              <a:t> </a:t>
            </a:r>
            <a:r>
              <a:rPr lang="en-ID" sz="4000" b="1" dirty="0" err="1"/>
              <a:t>Tanggung</a:t>
            </a:r>
            <a:r>
              <a:rPr lang="en-ID" sz="4000" b="1" dirty="0"/>
              <a:t> Jawab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9C29A0-9348-26AB-5FB8-4B728B0A046A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C766D4-C4CB-3D23-92E4-98DC5B80DF4F}"/>
              </a:ext>
            </a:extLst>
          </p:cNvPr>
          <p:cNvSpPr txBox="1"/>
          <p:nvPr/>
        </p:nvSpPr>
        <p:spPr>
          <a:xfrm>
            <a:off x="356108" y="2440469"/>
            <a:ext cx="53367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masing-masing.</a:t>
            </a:r>
          </a:p>
          <a:p>
            <a:pPr algn="just"/>
            <a:endParaRPr lang="en-ID" dirty="0"/>
          </a:p>
          <a:p>
            <a:pPr algn="just"/>
            <a:r>
              <a:rPr lang="en-ID" dirty="0" err="1"/>
              <a:t>Contoh</a:t>
            </a:r>
            <a:r>
              <a:rPr lang="en-ID" dirty="0"/>
              <a:t>:</a:t>
            </a:r>
          </a:p>
          <a:p>
            <a:pPr algn="just"/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/>
              <a:t>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/>
              <a:t>Logika </a:t>
            </a:r>
            <a:r>
              <a:rPr lang="en-ID" dirty="0" err="1"/>
              <a:t>bisnis</a:t>
            </a:r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 err="1"/>
              <a:t>Tampilan</a:t>
            </a:r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/>
              <a:t>Routing</a:t>
            </a:r>
          </a:p>
          <a:p>
            <a:pPr algn="just"/>
            <a:endParaRPr lang="en-ID" dirty="0"/>
          </a:p>
          <a:p>
            <a:pPr algn="just"/>
            <a:r>
              <a:rPr lang="en-ID" dirty="0" err="1"/>
              <a:t>Dipisahkan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file </a:t>
            </a:r>
            <a:r>
              <a:rPr lang="en-ID" dirty="0" err="1"/>
              <a:t>berbeda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2423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52522-3CA1-E0A1-B82A-884E0EFE8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FA10C4B1-3C1A-07A7-7391-10F1362AD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97532D-6AC0-8216-7061-E3A436917671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BAA806-123C-2DED-7382-725C591CABEB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E5267F-77FC-F18A-D046-AC2158B23C7F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FBB94D-6DAB-8483-57BE-A9A8BFC2E6F8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CD8603-F81F-A41D-3280-F36C522F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10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084361-AA75-3C71-02B2-551F174E1DC9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4000" b="1" dirty="0" err="1"/>
              <a:t>Evolusi</a:t>
            </a:r>
            <a:r>
              <a:rPr lang="en-ID" sz="4000" b="1" dirty="0"/>
              <a:t> </a:t>
            </a:r>
            <a:r>
              <a:rPr lang="en-ID" sz="4000" b="1" dirty="0" err="1"/>
              <a:t>Arsitektur</a:t>
            </a:r>
            <a:endParaRPr lang="en-ID" sz="40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2F4EC8-DC12-1DE4-4D4D-26E876E1394F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613763-0777-6B14-3E50-B704774A7692}"/>
              </a:ext>
            </a:extLst>
          </p:cNvPr>
          <p:cNvSpPr txBox="1"/>
          <p:nvPr/>
        </p:nvSpPr>
        <p:spPr>
          <a:xfrm>
            <a:off x="356108" y="2440469"/>
            <a:ext cx="533677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berkembang</a:t>
            </a:r>
            <a:r>
              <a:rPr lang="en-ID" dirty="0"/>
              <a:t>:</a:t>
            </a:r>
          </a:p>
          <a:p>
            <a:pPr algn="just"/>
            <a:endParaRPr lang="en-ID" dirty="0"/>
          </a:p>
          <a:p>
            <a:pPr algn="just"/>
            <a:r>
              <a:rPr lang="en-ID" dirty="0"/>
              <a:t>Single File</a:t>
            </a:r>
          </a:p>
          <a:p>
            <a:pPr algn="just"/>
            <a:r>
              <a:rPr lang="en-ID" dirty="0"/>
              <a:t>      ↓</a:t>
            </a:r>
          </a:p>
          <a:p>
            <a:pPr algn="just"/>
            <a:r>
              <a:rPr lang="en-ID" dirty="0"/>
              <a:t>MVC</a:t>
            </a:r>
          </a:p>
          <a:p>
            <a:pPr algn="just"/>
            <a:r>
              <a:rPr lang="en-ID" dirty="0"/>
              <a:t>      ↓</a:t>
            </a:r>
          </a:p>
          <a:p>
            <a:pPr algn="just"/>
            <a:r>
              <a:rPr lang="en-ID" dirty="0"/>
              <a:t>Clean Architecture</a:t>
            </a:r>
          </a:p>
          <a:p>
            <a:pPr algn="just"/>
            <a:r>
              <a:rPr lang="en-ID" dirty="0"/>
              <a:t>      ↓</a:t>
            </a:r>
          </a:p>
          <a:p>
            <a:pPr algn="just"/>
            <a:r>
              <a:rPr lang="en-ID" dirty="0"/>
              <a:t>Microservices</a:t>
            </a:r>
          </a:p>
        </p:txBody>
      </p:sp>
    </p:spTree>
    <p:extLst>
      <p:ext uri="{BB962C8B-B14F-4D97-AF65-F5344CB8AC3E}">
        <p14:creationId xmlns:p14="http://schemas.microsoft.com/office/powerpoint/2010/main" val="99958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928F0-ABB0-DBA9-FFCA-7E0920D15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3A50862A-9909-6916-B81C-EF1E70012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8A576E-2766-956A-A8FE-4A650937218A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892408-733A-4EC9-3B20-EF433D536B57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2638B7-6608-5F7A-EA13-E043CC8B7DF2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3065B-F549-CDFB-2206-16877D3705EE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A1D4B8-7F9E-F9D0-3456-D860B09DF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11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995737-3F44-2414-752A-3B745298BF72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4000" b="1" dirty="0"/>
              <a:t>Review MVC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6FEBA8-125C-3580-4ACC-D97A3EF91685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5832F1-C160-77DA-5EE8-A0526C56107A}"/>
              </a:ext>
            </a:extLst>
          </p:cNvPr>
          <p:cNvSpPr txBox="1"/>
          <p:nvPr/>
        </p:nvSpPr>
        <p:spPr>
          <a:xfrm>
            <a:off x="356108" y="2440469"/>
            <a:ext cx="53367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/>
              <a:t>MVC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:</a:t>
            </a:r>
          </a:p>
          <a:p>
            <a:pPr algn="just"/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/>
              <a:t>Model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/>
              <a:t>View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/>
              <a:t>Controller</a:t>
            </a:r>
          </a:p>
          <a:p>
            <a:pPr algn="just"/>
            <a:endParaRPr lang="en-ID" dirty="0"/>
          </a:p>
          <a:p>
            <a:pPr algn="just"/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dipelajari</a:t>
            </a:r>
            <a:r>
              <a:rPr lang="en-ID" dirty="0"/>
              <a:t> pada </a:t>
            </a:r>
            <a:r>
              <a:rPr lang="en-ID" dirty="0" err="1"/>
              <a:t>materi</a:t>
            </a:r>
            <a:r>
              <a:rPr lang="en-ID" dirty="0"/>
              <a:t> </a:t>
            </a:r>
            <a:r>
              <a:rPr lang="en-ID" dirty="0" err="1"/>
              <a:t>sebelumnya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1752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4A7BF-261F-4CAC-F360-A3FF74DC3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74C42F3E-66C9-D48D-3ED7-699A88394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E2B161-6658-EC04-9FD7-4CD556890ACC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1EA18B-AEFD-D576-3B87-15CA8418BA4E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002704-9221-8803-E391-7F70B620ABA8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8D42B3-9100-32DD-2C17-9F620AACE815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16D339-2762-907B-9A11-4BB45839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12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8CA0CC-AB15-C91E-4F52-F5D2168C84EA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Kelebihan</a:t>
            </a:r>
            <a:r>
              <a:rPr lang="en-US" sz="4000" b="1" dirty="0"/>
              <a:t> MVC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3402A8-6AC4-62C5-75F2-F0A41E7593C3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C01C98-13ED-AB8C-6993-5B7D439B518D}"/>
              </a:ext>
            </a:extLst>
          </p:cNvPr>
          <p:cNvSpPr txBox="1"/>
          <p:nvPr/>
        </p:nvSpPr>
        <p:spPr>
          <a:xfrm>
            <a:off x="356108" y="2440469"/>
            <a:ext cx="53367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/>
              <a:t>Kelebihan</a:t>
            </a:r>
            <a:r>
              <a:rPr lang="en-US" dirty="0"/>
              <a:t> MVC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dipahami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rapi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Cocok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menengah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551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EBBAA-86BF-1E80-0649-F7B8CEE6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EE6DF627-F37B-1E86-4D2C-48C79A0E3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BAD876-5824-3CB6-2C33-5A32EEE2C727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0ED5C9-0DD7-B34E-8E79-F6BA68C61A46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4B77EA-D59B-9372-C4F1-F58F43DAC182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3EC1A3-132B-E678-EDB3-AC05FFD96C44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DC2E63C-AA73-9692-1819-9201BF04B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13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DAD01-8E25-5367-C55D-749E45B48253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 err="1"/>
              <a:t>Keterbatasan</a:t>
            </a:r>
            <a:r>
              <a:rPr lang="en-US" sz="4000" b="1" dirty="0"/>
              <a:t> MVC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F1427F-D830-00FF-AF4F-F63A8412A10C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DDE847-D5E8-1DDA-290F-ACDFE43194BC}"/>
              </a:ext>
            </a:extLst>
          </p:cNvPr>
          <p:cNvSpPr txBox="1"/>
          <p:nvPr/>
        </p:nvSpPr>
        <p:spPr>
          <a:xfrm>
            <a:off x="356108" y="2440469"/>
            <a:ext cx="53367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Ketika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semakin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: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Controller </a:t>
            </a:r>
            <a:r>
              <a:rPr lang="en-US" dirty="0" err="1"/>
              <a:t>menjadi</a:t>
            </a:r>
            <a:r>
              <a:rPr lang="en-US" dirty="0"/>
              <a:t> sangat </a:t>
            </a:r>
            <a:r>
              <a:rPr lang="en-US" dirty="0" err="1"/>
              <a:t>besar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Logika </a:t>
            </a:r>
            <a:r>
              <a:rPr lang="en-US" dirty="0" err="1"/>
              <a:t>bisnis</a:t>
            </a:r>
            <a:r>
              <a:rPr lang="en-US" dirty="0"/>
              <a:t> </a:t>
            </a:r>
            <a:r>
              <a:rPr lang="en-US" dirty="0" err="1"/>
              <a:t>bercampur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Sulit </a:t>
            </a:r>
            <a:r>
              <a:rPr lang="en-US" dirty="0" err="1"/>
              <a:t>diuji</a:t>
            </a:r>
            <a:r>
              <a:rPr lang="en-US" dirty="0"/>
              <a:t> (testing)</a:t>
            </a:r>
          </a:p>
        </p:txBody>
      </p:sp>
    </p:spTree>
    <p:extLst>
      <p:ext uri="{BB962C8B-B14F-4D97-AF65-F5344CB8AC3E}">
        <p14:creationId xmlns:p14="http://schemas.microsoft.com/office/powerpoint/2010/main" val="701987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D0F88-552E-33BD-8005-3C30A3E6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37AD1761-3E9B-D246-D42E-F0BE30EA6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443728-6ACB-69FC-AB5E-52077531AEF2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D662E2-6A10-C769-1F4A-13D3B3048910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39EC05-5E46-BE6F-9716-49FE1F876171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D6D22C-22AD-42B5-51AF-C24C22496F7B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872E75A-456F-698D-A33C-991B38122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14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100784-B4CC-8BAE-5CC3-E09137983CA7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v-SE" sz="4000" b="1" dirty="0"/>
              <a:t>Apa itu Clean Architecture?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62D911-3B59-D24C-1B0D-07551EC3CB46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674C1F-4973-619E-936F-B1E4DC1F4CBE}"/>
              </a:ext>
            </a:extLst>
          </p:cNvPr>
          <p:cNvSpPr txBox="1"/>
          <p:nvPr/>
        </p:nvSpPr>
        <p:spPr>
          <a:xfrm>
            <a:off x="356108" y="2440469"/>
            <a:ext cx="53367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v-SE" dirty="0"/>
              <a:t>Clean Architecture adalah pendekatan pengembangan perangkat lunak yang memisahkan tanggung jawab setiap komponen secara jelas.</a:t>
            </a:r>
          </a:p>
          <a:p>
            <a:pPr algn="just"/>
            <a:endParaRPr lang="sv-SE" dirty="0"/>
          </a:p>
          <a:p>
            <a:pPr algn="just"/>
            <a:r>
              <a:rPr lang="sv-SE" dirty="0"/>
              <a:t>Dipopulerkan oleh:</a:t>
            </a:r>
          </a:p>
          <a:p>
            <a:pPr algn="just"/>
            <a:r>
              <a:rPr lang="sv-SE" dirty="0"/>
              <a:t>Robert C. Martin</a:t>
            </a:r>
          </a:p>
        </p:txBody>
      </p:sp>
    </p:spTree>
    <p:extLst>
      <p:ext uri="{BB962C8B-B14F-4D97-AF65-F5344CB8AC3E}">
        <p14:creationId xmlns:p14="http://schemas.microsoft.com/office/powerpoint/2010/main" val="2578932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0774C-E427-B8DE-6201-129DA8C5F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0B8CED01-090F-9594-3D44-4CA4182C9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914BE7-B0F8-8D88-288B-3DBBB006793E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081F89-E7AD-9F40-C7CA-FABC1CD5A261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B1FBF8-4895-9631-8C69-75C96318D4EF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BB8673-D7E1-08AB-AD78-8E58CB3F5B8A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CB9074F-5BEE-A197-995E-B1EA763A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15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8FE40-B06B-0940-AFD2-062466A3F6B8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/>
              <a:t>Tujuan Clean Architecture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FCE0F4-2A8F-2FB1-EAF6-5F8D10C477CB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2728FB-CC79-1422-7A81-56DCE32CE6A5}"/>
              </a:ext>
            </a:extLst>
          </p:cNvPr>
          <p:cNvSpPr txBox="1"/>
          <p:nvPr/>
        </p:nvSpPr>
        <p:spPr>
          <a:xfrm>
            <a:off x="356108" y="2440469"/>
            <a:ext cx="53367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Agar </a:t>
            </a:r>
            <a:r>
              <a:rPr lang="en-US" dirty="0" err="1"/>
              <a:t>aplikasi</a:t>
            </a:r>
            <a:r>
              <a:rPr lang="en-US" dirty="0"/>
              <a:t>: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diuji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dikembangkan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Tidak </a:t>
            </a:r>
            <a:r>
              <a:rPr lang="en-US" dirty="0" err="1"/>
              <a:t>bergantung</a:t>
            </a:r>
            <a:r>
              <a:rPr lang="en-US" dirty="0"/>
              <a:t> pada framework </a:t>
            </a:r>
            <a:r>
              <a:rPr lang="en-US" dirty="0" err="1"/>
              <a:t>tertentu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Tidak </a:t>
            </a:r>
            <a:r>
              <a:rPr lang="en-US" dirty="0" err="1"/>
              <a:t>bergantung</a:t>
            </a:r>
            <a:r>
              <a:rPr lang="en-US" dirty="0"/>
              <a:t> pada database </a:t>
            </a:r>
            <a:r>
              <a:rPr lang="en-US" dirty="0" err="1"/>
              <a:t>tertentu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563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DE8D9-0329-76B0-D7A2-4A9AF5E0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F8FD6D67-971C-1FC1-4247-DD1A4BACB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BB6927-D519-D62F-63FA-80DDE62E2884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5C5747-528F-95D6-0EBD-662B7D2A90D9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790768-3804-8A59-8C0E-E76D85023435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CCD4D9-CD49-999E-EF47-A55F0E2E293F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1B9124-9DA4-BB87-0FA8-3131FC57A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16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A4F820-92B3-C01E-9DD7-AC913B4D78AA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 err="1"/>
              <a:t>Prinsip</a:t>
            </a:r>
            <a:r>
              <a:rPr lang="en-US" sz="4000" b="1" dirty="0"/>
              <a:t> Utama Clean Architecture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5E0718-7B4B-40F1-8AC8-C35BE08A31DF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4A01CE-37C3-6900-36B1-8D3468C115B7}"/>
              </a:ext>
            </a:extLst>
          </p:cNvPr>
          <p:cNvSpPr txBox="1"/>
          <p:nvPr/>
        </p:nvSpPr>
        <p:spPr>
          <a:xfrm>
            <a:off x="356108" y="2440469"/>
            <a:ext cx="53367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tanggung</a:t>
            </a:r>
            <a:r>
              <a:rPr lang="en-US" dirty="0"/>
              <a:t> </a:t>
            </a:r>
            <a:r>
              <a:rPr lang="en-US" dirty="0" err="1"/>
              <a:t>jawab</a:t>
            </a:r>
            <a:r>
              <a:rPr lang="en-US" dirty="0"/>
              <a:t> yang </a:t>
            </a:r>
            <a:r>
              <a:rPr lang="en-US" dirty="0" err="1"/>
              <a:t>berbeda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Perubahan</a:t>
            </a:r>
            <a:r>
              <a:rPr lang="en-US" dirty="0"/>
              <a:t> pada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memengaruhi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lain.</a:t>
            </a:r>
          </a:p>
        </p:txBody>
      </p:sp>
    </p:spTree>
    <p:extLst>
      <p:ext uri="{BB962C8B-B14F-4D97-AF65-F5344CB8AC3E}">
        <p14:creationId xmlns:p14="http://schemas.microsoft.com/office/powerpoint/2010/main" val="906291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332C9-0B27-B68B-DAA0-143C72D65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9040F0F8-FCCF-4FE7-1FF9-57859C21E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B6F331-AAE8-6D9D-789B-2573A520343B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E12766-2F84-0574-27C3-32BC5C76F7BE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C682CC-3BCC-32C9-0958-52335752C839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1C9FDB-0B03-D2F1-F4DF-842E50A137E6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74AB554-1B19-2224-838F-299BB5EAC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17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602FDA-5E02-A51B-FC07-A1D4751CE528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 err="1"/>
              <a:t>Komponen</a:t>
            </a:r>
            <a:r>
              <a:rPr lang="en-US" sz="4000" b="1" dirty="0"/>
              <a:t> Utama Clean Architecture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877BFF-5C7A-AC92-DCA1-0DCB7E07E78A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A6C510-E486-B99B-7A92-3C64E811292C}"/>
              </a:ext>
            </a:extLst>
          </p:cNvPr>
          <p:cNvSpPr txBox="1"/>
          <p:nvPr/>
        </p:nvSpPr>
        <p:spPr>
          <a:xfrm>
            <a:off x="356108" y="2440469"/>
            <a:ext cx="53367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/>
              <a:t>Umumnya</a:t>
            </a:r>
            <a:r>
              <a:rPr lang="en-US" dirty="0"/>
              <a:t>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: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Entities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Use Cases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Interface Adapters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Frameworks</a:t>
            </a:r>
          </a:p>
        </p:txBody>
      </p:sp>
    </p:spTree>
    <p:extLst>
      <p:ext uri="{BB962C8B-B14F-4D97-AF65-F5344CB8AC3E}">
        <p14:creationId xmlns:p14="http://schemas.microsoft.com/office/powerpoint/2010/main" val="3460391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4ED87-2475-A56B-5652-7C068FE5F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586CD7DE-AEF9-4860-A463-10BA670BD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FF8F6F-615C-1F21-2F14-7C4931AA6703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AA43CE-B736-98B4-CA32-991942197C57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6EEDD3-15D0-0C44-5BD5-CF9E4F4789D7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9E65F4-7EEE-5F22-6A66-1AB1BF86305D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2E89EF2-FC37-15AF-272C-4346CADF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18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84EE8-510A-F3A4-1923-BDBE83C7A702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/>
              <a:t>Entities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65C7E5-7784-F58B-3F59-1BB463C8E5F3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6D2D10-0DCF-CD96-8E4D-B006E35FF33B}"/>
              </a:ext>
            </a:extLst>
          </p:cNvPr>
          <p:cNvSpPr txBox="1"/>
          <p:nvPr/>
        </p:nvSpPr>
        <p:spPr>
          <a:xfrm>
            <a:off x="356108" y="2440469"/>
            <a:ext cx="53367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User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Produk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Mahasiswa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Transaksi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285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BED4B-FC47-445B-5E39-ACBCAC3DC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BD50B263-8947-BA67-022C-2692951E4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EB8465-EADD-B5AB-CC66-B86243909D32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F6974A-8A21-11DC-A18C-FABB782B94E2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F39984-B0D1-D1B0-9186-B3AB2852A4B5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CC95AC-A983-197E-FE12-0B8442E68FDD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8432555-46F5-2342-9807-1AA5B980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19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762B0E-4776-5571-A69A-ACB75C6B5582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/>
              <a:t>Use Cases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9D7001-DEBF-8D23-D583-B391AB9CA5E7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BFCC06-600A-14A8-0C5F-2FD3E57863FC}"/>
              </a:ext>
            </a:extLst>
          </p:cNvPr>
          <p:cNvSpPr txBox="1"/>
          <p:nvPr/>
        </p:nvSpPr>
        <p:spPr>
          <a:xfrm>
            <a:off x="356108" y="2440469"/>
            <a:ext cx="53367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Login </a:t>
            </a:r>
            <a:r>
              <a:rPr lang="en-US" dirty="0" err="1"/>
              <a:t>pengguna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Registrasi</a:t>
            </a:r>
            <a:r>
              <a:rPr lang="en-US" dirty="0"/>
              <a:t> </a:t>
            </a:r>
            <a:r>
              <a:rPr lang="en-US" dirty="0" err="1"/>
              <a:t>pengguna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transaksi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880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DA4CA-AC40-153D-969E-610B9C666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B67493AD-C52A-ECE7-B4F2-AAAE808B1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27C21D-CD0F-F03D-B938-F7BF7AD967EA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1B0513-FE4F-9ABA-51DD-AA361A851DE1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8BFA6D-DA1D-DCE6-0C96-92D13030EFBE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01833F-5CD8-3957-06B2-77AD28470944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9EE32C-4924-FFF5-2A3E-46533A2CF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20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1F5A5A-021F-D77D-0DF9-E6BBECF7F67F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/>
              <a:t>Interface Adapters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238C4B-8B2D-84A1-6843-B72970D9C55E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CF068C-5435-A426-50FC-59FB192CE658}"/>
              </a:ext>
            </a:extLst>
          </p:cNvPr>
          <p:cNvSpPr txBox="1"/>
          <p:nvPr/>
        </p:nvSpPr>
        <p:spPr>
          <a:xfrm>
            <a:off x="356108" y="2440469"/>
            <a:ext cx="53367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/>
              <a:t>Menghubungkan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dunia </a:t>
            </a:r>
            <a:r>
              <a:rPr lang="en-US" dirty="0" err="1"/>
              <a:t>luar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Controller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API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Database Adapter</a:t>
            </a:r>
          </a:p>
        </p:txBody>
      </p:sp>
    </p:spTree>
    <p:extLst>
      <p:ext uri="{BB962C8B-B14F-4D97-AF65-F5344CB8AC3E}">
        <p14:creationId xmlns:p14="http://schemas.microsoft.com/office/powerpoint/2010/main" val="40151673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C1094-608C-35C5-3D29-038EFCDB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4EFAF85F-4A74-3553-08F0-83BBF1C87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DE5788-0CB0-4498-B057-DED2EC567D54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1A2FE7-7CF0-4B3E-09D5-702BBEC4BAEC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DE9844-E2CF-02EF-7AAE-BE027D06115F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A1F2A0-472A-AF9E-B4D7-F0C3A1A5F958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F4EE344-A22F-3C30-1219-C2840A040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21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B4235F-D346-E263-39DC-0795A73A80AD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4000" b="1" dirty="0"/>
              <a:t>Framework Layer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13E49A-3BE7-1096-8BED-F95AF095B3A1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990F4F-7B90-8E7D-EBCA-AFF17E8937E7}"/>
              </a:ext>
            </a:extLst>
          </p:cNvPr>
          <p:cNvSpPr txBox="1"/>
          <p:nvPr/>
        </p:nvSpPr>
        <p:spPr>
          <a:xfrm>
            <a:off x="356108" y="2440469"/>
            <a:ext cx="53367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 err="1"/>
              <a:t>Lapisan</a:t>
            </a:r>
            <a:r>
              <a:rPr lang="en-ID" dirty="0"/>
              <a:t> </a:t>
            </a:r>
            <a:r>
              <a:rPr lang="en-ID" dirty="0" err="1"/>
              <a:t>terluar</a:t>
            </a:r>
            <a:r>
              <a:rPr lang="en-ID" dirty="0"/>
              <a:t>.</a:t>
            </a:r>
          </a:p>
          <a:p>
            <a:pPr algn="just"/>
            <a:endParaRPr lang="en-ID" dirty="0"/>
          </a:p>
          <a:p>
            <a:pPr algn="just"/>
            <a:r>
              <a:rPr lang="en-ID" dirty="0" err="1"/>
              <a:t>Contoh</a:t>
            </a:r>
            <a:r>
              <a:rPr lang="en-ID" dirty="0"/>
              <a:t>:</a:t>
            </a:r>
          </a:p>
          <a:p>
            <a:pPr algn="just"/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/>
              <a:t>Flask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/>
              <a:t>Database MySQL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/>
              <a:t>PostgreSQL</a:t>
            </a:r>
          </a:p>
          <a:p>
            <a:pPr algn="just"/>
            <a:endParaRPr lang="en-ID" dirty="0"/>
          </a:p>
          <a:p>
            <a:pPr algn="just"/>
            <a:r>
              <a:rPr lang="en-ID" dirty="0"/>
              <a:t>Framework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diganti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logika</a:t>
            </a:r>
            <a:r>
              <a:rPr lang="en-ID" dirty="0"/>
              <a:t> </a:t>
            </a:r>
            <a:r>
              <a:rPr lang="en-ID" dirty="0" err="1"/>
              <a:t>bisnis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4002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20EA0-9826-3FED-2BC2-6FBF6B27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0756A15A-2C31-FD58-614B-294D6DCA5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74C318-98C1-B48A-D463-794F16B9793D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DA3CD9-BF29-8AC7-C22C-331B8F780A43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2D589A-90FA-BB81-B932-43B56C5E5B73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9AE73C-6EF4-C179-8706-9FA76CC96A02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3741E66-A79D-7255-48F6-6615C6CDE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22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B934D-BA67-F914-D184-7B72596F2AC0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dirty="0" err="1"/>
              <a:t>Struktur</a:t>
            </a:r>
            <a:r>
              <a:rPr lang="en-ID" sz="4000" b="1" dirty="0"/>
              <a:t> Project Clean Architecture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919023-785A-FB13-6BFF-D71D7A5D60A2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819C1B-64ED-37EE-F31E-E87DDAD0C53A}"/>
              </a:ext>
            </a:extLst>
          </p:cNvPr>
          <p:cNvSpPr txBox="1"/>
          <p:nvPr/>
        </p:nvSpPr>
        <p:spPr>
          <a:xfrm>
            <a:off x="356108" y="2440469"/>
            <a:ext cx="53367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/>
              <a:t>Contoh</a:t>
            </a:r>
            <a:r>
              <a:rPr lang="en-ID" dirty="0"/>
              <a:t>:</a:t>
            </a:r>
          </a:p>
          <a:p>
            <a:endParaRPr lang="en-ID" dirty="0"/>
          </a:p>
          <a:p>
            <a:r>
              <a:rPr lang="en-ID" dirty="0"/>
              <a:t>project/</a:t>
            </a:r>
          </a:p>
          <a:p>
            <a:r>
              <a:rPr lang="en-ID" dirty="0"/>
              <a:t>│</a:t>
            </a:r>
          </a:p>
          <a:p>
            <a:r>
              <a:rPr lang="en-ID" dirty="0"/>
              <a:t>├── entities/</a:t>
            </a:r>
          </a:p>
          <a:p>
            <a:r>
              <a:rPr lang="en-ID" dirty="0"/>
              <a:t>├── </a:t>
            </a:r>
            <a:r>
              <a:rPr lang="en-ID" dirty="0" err="1"/>
              <a:t>usecases</a:t>
            </a:r>
            <a:r>
              <a:rPr lang="en-ID" dirty="0"/>
              <a:t>/</a:t>
            </a:r>
          </a:p>
          <a:p>
            <a:r>
              <a:rPr lang="en-ID" dirty="0"/>
              <a:t>├── controllers/</a:t>
            </a:r>
          </a:p>
          <a:p>
            <a:r>
              <a:rPr lang="en-ID" dirty="0"/>
              <a:t>├── repositories/</a:t>
            </a:r>
          </a:p>
          <a:p>
            <a:r>
              <a:rPr lang="en-ID" dirty="0"/>
              <a:t>├── routes/</a:t>
            </a:r>
          </a:p>
          <a:p>
            <a:r>
              <a:rPr lang="en-ID" dirty="0"/>
              <a:t>└── app.py</a:t>
            </a:r>
          </a:p>
        </p:txBody>
      </p:sp>
    </p:spTree>
    <p:extLst>
      <p:ext uri="{BB962C8B-B14F-4D97-AF65-F5344CB8AC3E}">
        <p14:creationId xmlns:p14="http://schemas.microsoft.com/office/powerpoint/2010/main" val="684055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85AAC-944D-3807-548A-D6E7AFA3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A1E9B8AB-BD7E-A520-4D23-48D580188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BFC842-A4E3-9558-69CE-2DDB4C180D01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D249D-60D0-067A-1DF6-A38F12769C6B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E23719-BD13-1105-4C53-855B8AE18F38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ADFE51-4D21-39B2-4EB8-87202F105502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522DE73-3914-BAC7-CAD8-D0B508E3F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23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7D27AD-9A64-A6C2-B679-EE7E93E4808A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dirty="0" err="1"/>
              <a:t>Keuntungan</a:t>
            </a:r>
            <a:r>
              <a:rPr lang="en-ID" sz="4000" b="1" dirty="0"/>
              <a:t> Clean Architecture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32A1C2-3A7A-5BB6-0619-9D9C3020B822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B1A2B6-71E7-E264-87F1-0732FD9F7719}"/>
              </a:ext>
            </a:extLst>
          </p:cNvPr>
          <p:cNvSpPr txBox="1"/>
          <p:nvPr/>
        </p:nvSpPr>
        <p:spPr>
          <a:xfrm>
            <a:off x="356108" y="2440469"/>
            <a:ext cx="53367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Kode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rapi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Mudah</a:t>
            </a:r>
            <a:r>
              <a:rPr lang="en-ID" dirty="0"/>
              <a:t> maintenance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Mudah</a:t>
            </a:r>
            <a:r>
              <a:rPr lang="en-ID" dirty="0"/>
              <a:t>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Cocok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besar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81037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CA477-9D59-3705-7528-9630551BF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8E1E1211-CC22-7D95-803B-087C723B6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6A4F68-FC3E-BACF-5FE6-FD31CE4741BA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0735FC-81F6-92D5-452F-07414CA2AD80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D20902-5DCA-0146-F111-0CF0DB309050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55AA87-1E02-E36C-0F41-349AD01A506E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D2BBBE1-065D-8AE5-B1EB-BA57CE94E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24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D2CD8B-580C-2DF9-A8BD-C8A9DAD08CA0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dirty="0"/>
              <a:t>Apa </a:t>
            </a:r>
            <a:r>
              <a:rPr lang="en-ID" sz="4000" b="1" dirty="0" err="1"/>
              <a:t>itu</a:t>
            </a:r>
            <a:r>
              <a:rPr lang="en-ID" sz="4000" b="1" dirty="0"/>
              <a:t> Monolithic Architecture?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A1DAB5-5F70-98A2-590A-8F3B95D33E79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05E494-7C69-33CF-B655-93FAB24EC8B9}"/>
              </a:ext>
            </a:extLst>
          </p:cNvPr>
          <p:cNvSpPr txBox="1"/>
          <p:nvPr/>
        </p:nvSpPr>
        <p:spPr>
          <a:xfrm>
            <a:off x="356108" y="2440469"/>
            <a:ext cx="53367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Monolithic =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berada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.</a:t>
            </a:r>
          </a:p>
          <a:p>
            <a:endParaRPr lang="en-ID" dirty="0"/>
          </a:p>
          <a:p>
            <a:r>
              <a:rPr lang="en-ID" dirty="0" err="1"/>
              <a:t>Contoh</a:t>
            </a:r>
            <a:r>
              <a:rPr lang="en-ID" dirty="0"/>
              <a:t>:</a:t>
            </a:r>
          </a:p>
          <a:p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Produk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Transaksi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Laporan</a:t>
            </a:r>
            <a:endParaRPr lang="en-ID" dirty="0"/>
          </a:p>
          <a:p>
            <a:endParaRPr lang="en-ID" dirty="0"/>
          </a:p>
          <a:p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berjalan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1142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73C9E-44AA-E0B2-AA6A-E64F2557A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11EEC594-38EF-41B7-7C4C-CF30DEAF5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E1EA63-829D-C4B8-8CF1-E55E6255504B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C0494E-9891-7EB9-FCAD-5637EA7F9AA2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823A77-AB5C-CB2B-C888-DFA1CF283B3D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28201-0729-AD9D-039A-CACDCEF12255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76230E2-B431-CBEE-40CC-6BAFDAD9D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25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C2E08A-3526-AB7E-8393-8FCD7B730B1D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dirty="0" err="1"/>
              <a:t>Kelebihan</a:t>
            </a:r>
            <a:r>
              <a:rPr lang="en-ID" sz="4000" b="1" dirty="0"/>
              <a:t> Monolithic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373A7B-B160-045F-E821-949604982C9D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6E0D46-4231-E0B1-109B-9D7CD9D7B1C4}"/>
              </a:ext>
            </a:extLst>
          </p:cNvPr>
          <p:cNvSpPr txBox="1"/>
          <p:nvPr/>
        </p:nvSpPr>
        <p:spPr>
          <a:xfrm>
            <a:off x="356108" y="2440469"/>
            <a:ext cx="5336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dibuat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dipelajari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Cocok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kecil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3430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97688-7C46-E9B1-DDA3-6F2D54F5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3E339EC3-B26B-03DA-93ED-B823194F1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3F8B6A-5F82-64E0-DC37-94CB53CD7709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DD638C-F451-7172-EA37-0502BEAEEDDC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098C34-3DCB-2AB3-8F68-D5DED93D4724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192B53-C1A6-BB82-8CBE-6DBF10C61026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C84E376-5CAB-CA35-0C78-D19B1E0F0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26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ABAE40-8EE9-A675-DB9D-581A8864C308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dirty="0" err="1"/>
              <a:t>Kekurangan</a:t>
            </a:r>
            <a:r>
              <a:rPr lang="en-ID" sz="4000" b="1" dirty="0"/>
              <a:t> Monolithic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FC1760-F7DA-2FA3-CDC3-7D17C61C6838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20EFE5-D3B1-72DA-61B0-F4B7C99E3C1D}"/>
              </a:ext>
            </a:extLst>
          </p:cNvPr>
          <p:cNvSpPr txBox="1"/>
          <p:nvPr/>
        </p:nvSpPr>
        <p:spPr>
          <a:xfrm>
            <a:off x="356108" y="2440469"/>
            <a:ext cx="5336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Sulit </a:t>
            </a:r>
            <a:r>
              <a:rPr lang="en-ID" dirty="0" err="1"/>
              <a:t>dikembangkan</a:t>
            </a:r>
            <a:r>
              <a:rPr lang="en-ID" dirty="0"/>
              <a:t> </a:t>
            </a:r>
            <a:r>
              <a:rPr lang="en-ID" dirty="0" err="1"/>
              <a:t>ketika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besar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Sulit </a:t>
            </a:r>
            <a:r>
              <a:rPr lang="en-ID" dirty="0" err="1"/>
              <a:t>dikelola</a:t>
            </a:r>
            <a:r>
              <a:rPr lang="en-ID" dirty="0"/>
              <a:t> oleh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tim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Sulit </a:t>
            </a:r>
            <a:r>
              <a:rPr lang="en-ID" dirty="0" err="1"/>
              <a:t>melakukan</a:t>
            </a:r>
            <a:r>
              <a:rPr lang="en-ID" dirty="0"/>
              <a:t> scaling </a:t>
            </a:r>
            <a:r>
              <a:rPr lang="en-ID" dirty="0" err="1"/>
              <a:t>sebagian</a:t>
            </a:r>
            <a:r>
              <a:rPr lang="en-ID" dirty="0"/>
              <a:t> </a:t>
            </a:r>
            <a:r>
              <a:rPr lang="en-ID" dirty="0" err="1"/>
              <a:t>fitur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711517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85951-A6C4-4CD4-6954-B81F9C97F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7CAC6F74-668A-EEC4-DA5E-6677C2E09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09B457-3A1F-2872-1714-5B84137DECAF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EDC3EA-62BA-BFFA-0343-52BE6A54F248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6F8230-A5FE-F776-D30A-544400AD2089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209562-B5D8-1027-6271-FA2F7B7863DE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907A1D-151C-2A6F-3D30-E23F09A9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27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FA457E-2EEC-F4ED-B856-E25CFB78DA20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dirty="0"/>
              <a:t>Apa </a:t>
            </a:r>
            <a:r>
              <a:rPr lang="en-ID" sz="4000" b="1" dirty="0" err="1"/>
              <a:t>itu</a:t>
            </a:r>
            <a:r>
              <a:rPr lang="en-ID" sz="4000" b="1" dirty="0"/>
              <a:t> Microservices?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BB2D46-B418-6866-3D03-F23E1341A591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8A5211-E10E-6DBE-D263-67EF20CD10B9}"/>
              </a:ext>
            </a:extLst>
          </p:cNvPr>
          <p:cNvSpPr txBox="1"/>
          <p:nvPr/>
        </p:nvSpPr>
        <p:spPr>
          <a:xfrm>
            <a:off x="356108" y="2440469"/>
            <a:ext cx="5336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Microservices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pendekatan</a:t>
            </a:r>
            <a:r>
              <a:rPr lang="en-ID" dirty="0"/>
              <a:t> </a:t>
            </a:r>
            <a:r>
              <a:rPr lang="en-ID" dirty="0" err="1"/>
              <a:t>membagi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layanan-layanan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yang </a:t>
            </a:r>
            <a:r>
              <a:rPr lang="en-ID" dirty="0" err="1"/>
              <a:t>berdiri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9188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4A38F-CE5A-631A-4552-E61AB1FB4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A307A245-DAC8-5157-7EDD-213BF9C93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6B910C-EF40-1897-43AF-BE33362018FD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1CE962-D9D2-86BA-50AC-44F9238D4046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C42072-BF8B-2AC3-CD2F-F23CED6203D3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4595BF-7DC1-284A-BE50-830271921401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26360E5-1658-2650-7D8B-F754B846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28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6F22FB-7F65-E9F0-3863-0E4370B1FC4A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Contoh</a:t>
            </a:r>
            <a:r>
              <a:rPr lang="en-US" sz="4000" b="1" dirty="0"/>
              <a:t> Microservices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15E3A0-1AFD-755F-5D79-0704AA3BBB0B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9BFA8A-A9E5-9D0E-713E-676907FBBDB9}"/>
              </a:ext>
            </a:extLst>
          </p:cNvPr>
          <p:cNvSpPr txBox="1"/>
          <p:nvPr/>
        </p:nvSpPr>
        <p:spPr>
          <a:xfrm>
            <a:off x="356108" y="2440469"/>
            <a:ext cx="53367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Sistem</a:t>
            </a:r>
            <a:r>
              <a:rPr lang="en-US" dirty="0"/>
              <a:t> E-Commerce: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Order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Payment Service</a:t>
            </a:r>
          </a:p>
          <a:p>
            <a:endParaRPr lang="en-US" dirty="0"/>
          </a:p>
          <a:p>
            <a:r>
              <a:rPr lang="en-US" dirty="0"/>
              <a:t>Masing-masing </a:t>
            </a:r>
            <a:r>
              <a:rPr lang="en-US" dirty="0" err="1"/>
              <a:t>berjalan</a:t>
            </a:r>
            <a:r>
              <a:rPr lang="en-US" dirty="0"/>
              <a:t> </a:t>
            </a:r>
            <a:r>
              <a:rPr lang="en-US" dirty="0" err="1"/>
              <a:t>terpisah</a:t>
            </a:r>
            <a:r>
              <a:rPr lang="en-US" dirty="0"/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244429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27DA3-782D-51E6-0EB5-B61F6C45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10AD15A2-A732-A9C8-3B39-00C7FB3FB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089CA8-79CB-2C54-14E6-9C2A08277BD6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DC7C91-868F-68DF-97C2-5978E7B0AACC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05C4A9-5E98-08A5-85B0-A9A1D9499C6F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1613C5-B7E5-160A-C9BC-8053AC7FB646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57E1F5A-E704-EC7D-4BB7-9AF58B68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29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602EB-9DCC-FB28-FE76-6E8E17AA37DA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dirty="0" err="1"/>
              <a:t>Kelebihan</a:t>
            </a:r>
            <a:r>
              <a:rPr lang="en-ID" sz="4000" b="1" dirty="0"/>
              <a:t> Microservices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43F080-7D70-2EB5-78A5-DA17E42088F5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FB823E-D61A-B28B-F628-0AD6F86EDDF5}"/>
              </a:ext>
            </a:extLst>
          </p:cNvPr>
          <p:cNvSpPr txBox="1"/>
          <p:nvPr/>
        </p:nvSpPr>
        <p:spPr>
          <a:xfrm>
            <a:off x="356108" y="2440469"/>
            <a:ext cx="53367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dikembangkan</a:t>
            </a:r>
            <a:r>
              <a:rPr lang="en-ID" dirty="0"/>
              <a:t> </a:t>
            </a:r>
            <a:r>
              <a:rPr lang="en-ID" dirty="0" err="1"/>
              <a:t>tim</a:t>
            </a:r>
            <a:r>
              <a:rPr lang="en-ID" dirty="0"/>
              <a:t> </a:t>
            </a:r>
            <a:r>
              <a:rPr lang="en-ID" dirty="0" err="1"/>
              <a:t>berbeda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Mudah</a:t>
            </a:r>
            <a:r>
              <a:rPr lang="en-ID" dirty="0"/>
              <a:t>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Tidak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bergantung</a:t>
            </a:r>
            <a:r>
              <a:rPr lang="en-ID" dirty="0"/>
              <a:t> </a:t>
            </a:r>
            <a:r>
              <a:rPr lang="en-ID" dirty="0" err="1"/>
              <a:t>penuh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fleksibel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073247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AD027-8011-5248-31E2-61696336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DF37B93A-AB96-A1B6-23D9-34EA29F98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FA6013-0CB7-C92C-24FD-B451585E4900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5C739D-F102-28ED-8AA0-091CCA1D7B79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78AF34-920A-1079-242A-435540DCD381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94CE77-C256-05EE-69DE-6D1824F7DB60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B528E32-0D0E-13A4-F70A-5DC35D2B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30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1F3A6E-72F9-437C-CDFB-317693295CD0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dirty="0" err="1"/>
              <a:t>Kekurangan</a:t>
            </a:r>
            <a:r>
              <a:rPr lang="en-ID" sz="4000" b="1" dirty="0"/>
              <a:t> Microservices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C0F154-C201-4A8B-1022-CD5C846356BC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E915B-BA44-0307-385C-9EEAB6D81D36}"/>
              </a:ext>
            </a:extLst>
          </p:cNvPr>
          <p:cNvSpPr txBox="1"/>
          <p:nvPr/>
        </p:nvSpPr>
        <p:spPr>
          <a:xfrm>
            <a:off x="356108" y="2440469"/>
            <a:ext cx="53367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kompleks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komunikasi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layanan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Membutuhkan</a:t>
            </a:r>
            <a:r>
              <a:rPr lang="en-ID" dirty="0"/>
              <a:t> </a:t>
            </a:r>
            <a:r>
              <a:rPr lang="en-ID" dirty="0" err="1"/>
              <a:t>infrastruktur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banyak</a:t>
            </a:r>
            <a:endParaRPr lang="en-ID" dirty="0"/>
          </a:p>
          <a:p>
            <a:endParaRPr lang="en-ID" dirty="0"/>
          </a:p>
          <a:p>
            <a:r>
              <a:rPr lang="en-ID" dirty="0"/>
              <a:t>Karena </a:t>
            </a:r>
            <a:r>
              <a:rPr lang="en-ID" dirty="0" err="1"/>
              <a:t>itu</a:t>
            </a:r>
            <a:r>
              <a:rPr lang="en-ID" dirty="0"/>
              <a:t> microservices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pada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7740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42AC7-7EBB-4C9B-56D3-A870CA5C6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665A51AC-37AE-CAE7-5E28-598784F01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E47A4D-97DB-4464-E3CB-1D58E6FA5D03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65F0BC-44AA-880D-C211-223520A4E7FC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D3D156-67F7-3265-CA86-BD8497F20C41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54EA02-9E49-4718-AC54-EB5F89394E26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42B8E45-9BFA-2982-6248-314D50869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31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2B051-36BB-C537-0CA8-C92E126C367C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dirty="0"/>
              <a:t>Kapan </a:t>
            </a:r>
            <a:r>
              <a:rPr lang="en-ID" sz="4000" b="1" dirty="0" err="1"/>
              <a:t>Menggunakan</a:t>
            </a:r>
            <a:r>
              <a:rPr lang="en-ID" sz="4000" b="1" dirty="0"/>
              <a:t> Apa?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4D4FFC-30A3-E8AF-82F5-7DE7AF165435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B51853-76C2-DB8D-5014-471185DAA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814894"/>
              </p:ext>
            </p:extLst>
          </p:nvPr>
        </p:nvGraphicFramePr>
        <p:xfrm>
          <a:off x="1817879" y="2962182"/>
          <a:ext cx="468852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389">
                  <a:extLst>
                    <a:ext uri="{9D8B030D-6E8A-4147-A177-3AD203B41FA5}">
                      <a16:colId xmlns:a16="http://schemas.microsoft.com/office/drawing/2014/main" val="1040527650"/>
                    </a:ext>
                  </a:extLst>
                </a:gridCol>
                <a:gridCol w="2596134">
                  <a:extLst>
                    <a:ext uri="{9D8B030D-6E8A-4147-A177-3AD203B41FA5}">
                      <a16:colId xmlns:a16="http://schemas.microsoft.com/office/drawing/2014/main" val="3628465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Kondisi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Arsitektur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039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Belajar</a:t>
                      </a:r>
                      <a:r>
                        <a:rPr lang="en-US" dirty="0"/>
                        <a:t> 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MVC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594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Proyek</a:t>
                      </a:r>
                      <a:r>
                        <a:rPr lang="en-US" dirty="0"/>
                        <a:t> Kampus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MVC / Clean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434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Startup Awal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Monolithic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050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Sistem</a:t>
                      </a:r>
                      <a:r>
                        <a:rPr lang="en-US" dirty="0"/>
                        <a:t> Besar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Clean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827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Sistem</a:t>
                      </a:r>
                      <a:r>
                        <a:rPr lang="en-US" dirty="0"/>
                        <a:t> Sangat Besar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Microservices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353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57580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1C1A4-85C9-D330-4EFD-CDB8808CA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0C2C0D21-B10D-B58C-5B83-A4F68947B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9A2286-52CE-16F5-0D68-C4B2F6486C05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213D3E-5395-5290-A684-D65D87B57C7F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5DA409-AD72-2CAE-A3A5-525EC0C9FD65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5B310-0D51-1F80-3B82-2BCB7A3EA3CA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FE4A78B-2A5B-21B7-EA4F-0D8867533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32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2EF573-8C1D-2F4E-29CA-F0CABD967E97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dirty="0"/>
              <a:t>Studi Kasus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04A53D-3589-40B4-EC9E-F369151D5971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33223E-6CC1-67F9-BD8F-27A32D9CD593}"/>
              </a:ext>
            </a:extLst>
          </p:cNvPr>
          <p:cNvSpPr txBox="1"/>
          <p:nvPr/>
        </p:nvSpPr>
        <p:spPr>
          <a:xfrm>
            <a:off x="356108" y="2440469"/>
            <a:ext cx="533677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/>
              <a:t>Sistem</a:t>
            </a:r>
            <a:r>
              <a:rPr lang="en-ID" dirty="0"/>
              <a:t> Akademik Kampus</a:t>
            </a:r>
          </a:p>
          <a:p>
            <a:endParaRPr lang="en-ID" dirty="0"/>
          </a:p>
          <a:p>
            <a:r>
              <a:rPr lang="en-ID" dirty="0"/>
              <a:t>Fitur:</a:t>
            </a:r>
          </a:p>
          <a:p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Mahasiswa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Dosen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Jadwal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Nilai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94B4A5-342C-7E4B-9AE5-7040686F5096}"/>
              </a:ext>
            </a:extLst>
          </p:cNvPr>
          <p:cNvSpPr txBox="1"/>
          <p:nvPr/>
        </p:nvSpPr>
        <p:spPr>
          <a:xfrm>
            <a:off x="6593622" y="2418972"/>
            <a:ext cx="53367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Pada </a:t>
            </a:r>
            <a:r>
              <a:rPr lang="en-ID" dirty="0" err="1"/>
              <a:t>awalnya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:</a:t>
            </a:r>
          </a:p>
          <a:p>
            <a:r>
              <a:rPr lang="en-ID" dirty="0"/>
              <a:t>MVC</a:t>
            </a:r>
          </a:p>
          <a:p>
            <a:endParaRPr lang="en-ID" dirty="0"/>
          </a:p>
          <a:p>
            <a:r>
              <a:rPr lang="en-ID" dirty="0"/>
              <a:t>Ketika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semakin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:</a:t>
            </a:r>
          </a:p>
          <a:p>
            <a:r>
              <a:rPr lang="en-ID" dirty="0"/>
              <a:t>Clean Architecture</a:t>
            </a:r>
          </a:p>
          <a:p>
            <a:endParaRPr lang="en-ID" dirty="0"/>
          </a:p>
          <a:p>
            <a:r>
              <a:rPr lang="en-ID" dirty="0"/>
              <a:t>Jika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nasional</a:t>
            </a:r>
            <a:r>
              <a:rPr lang="en-ID" dirty="0"/>
              <a:t>:</a:t>
            </a:r>
          </a:p>
          <a:p>
            <a:r>
              <a:rPr lang="en-ID" dirty="0"/>
              <a:t>Microservices</a:t>
            </a:r>
          </a:p>
        </p:txBody>
      </p:sp>
    </p:spTree>
    <p:extLst>
      <p:ext uri="{BB962C8B-B14F-4D97-AF65-F5344CB8AC3E}">
        <p14:creationId xmlns:p14="http://schemas.microsoft.com/office/powerpoint/2010/main" val="3678589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4B446-FCBE-09F6-75F1-2A410B1EF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28C5636E-DBD4-F05B-A62F-851487A1E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BAD1C3-B299-EED5-5AC4-C8FDA5BF72ED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40315D-B05F-B542-A7ED-02F8691BE19D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E8C90C-BA06-F7A1-2005-1F7EE4F51116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6B8DAE-989A-DEA8-18AE-6582F45A8C49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CB4BCDB-D494-FC20-95F9-F877A4E7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33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610C8E-F654-A2EF-BC32-7090620BD463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dirty="0"/>
              <a:t>Best Practice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5936F6-C8DD-2136-8502-4C3DCF106322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E48FBF-7AA7-24B1-F6D1-012697419AC7}"/>
              </a:ext>
            </a:extLst>
          </p:cNvPr>
          <p:cNvSpPr txBox="1"/>
          <p:nvPr/>
        </p:nvSpPr>
        <p:spPr>
          <a:xfrm>
            <a:off x="356108" y="2440469"/>
            <a:ext cx="53367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Pisahkan</a:t>
            </a:r>
            <a:r>
              <a:rPr lang="en-ID" dirty="0"/>
              <a:t> </a:t>
            </a:r>
            <a:r>
              <a:rPr lang="en-ID" dirty="0" err="1"/>
              <a:t>tanggung</a:t>
            </a:r>
            <a:r>
              <a:rPr lang="en-ID" dirty="0"/>
              <a:t> </a:t>
            </a:r>
            <a:r>
              <a:rPr lang="en-ID" dirty="0" err="1"/>
              <a:t>jawab</a:t>
            </a:r>
            <a:r>
              <a:rPr lang="en-ID" dirty="0"/>
              <a:t> </a:t>
            </a:r>
            <a:r>
              <a:rPr lang="en-ID" dirty="0" err="1"/>
              <a:t>kode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folder yang </a:t>
            </a:r>
            <a:r>
              <a:rPr lang="en-ID" dirty="0" err="1"/>
              <a:t>jelas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Hindari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logika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Dokumentasikan</a:t>
            </a:r>
            <a:r>
              <a:rPr lang="en-ID" dirty="0"/>
              <a:t> </a:t>
            </a:r>
            <a:r>
              <a:rPr lang="en-ID" dirty="0" err="1"/>
              <a:t>arsitektur</a:t>
            </a:r>
            <a:r>
              <a:rPr lang="en-ID" dirty="0"/>
              <a:t> </a:t>
            </a:r>
            <a:r>
              <a:rPr lang="en-ID" dirty="0" err="1"/>
              <a:t>sistem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Pilih</a:t>
            </a:r>
            <a:r>
              <a:rPr lang="en-ID" dirty="0"/>
              <a:t> </a:t>
            </a:r>
            <a:r>
              <a:rPr lang="en-ID" dirty="0" err="1"/>
              <a:t>arsitektur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kebutuhan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238860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12672-7F73-5D50-0125-D43B04EEB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Text&#10;&#10;Description automatically generated">
            <a:extLst>
              <a:ext uri="{FF2B5EF4-FFF2-40B4-BE49-F238E27FC236}">
                <a16:creationId xmlns:a16="http://schemas.microsoft.com/office/drawing/2014/main" id="{8FFE3490-2C9A-5E38-842F-D6C8EFADB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DD824B-8255-6606-D3C6-D89814B2FF79}"/>
              </a:ext>
            </a:extLst>
          </p:cNvPr>
          <p:cNvSpPr txBox="1"/>
          <p:nvPr/>
        </p:nvSpPr>
        <p:spPr>
          <a:xfrm>
            <a:off x="8642709" y="399258"/>
            <a:ext cx="31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1B3564"/>
                </a:solidFill>
              </a:rPr>
              <a:t>Anas</a:t>
            </a:r>
            <a:r>
              <a:rPr lang="en-US" dirty="0">
                <a:solidFill>
                  <a:srgbClr val="1B3564"/>
                </a:solidFill>
              </a:rPr>
              <a:t> </a:t>
            </a:r>
            <a:r>
              <a:rPr lang="en-US" dirty="0" err="1">
                <a:solidFill>
                  <a:srgbClr val="1B3564"/>
                </a:solidFill>
              </a:rPr>
              <a:t>Nasrulloh</a:t>
            </a:r>
            <a:r>
              <a:rPr lang="en-US" dirty="0">
                <a:solidFill>
                  <a:srgbClr val="1B3564"/>
                </a:solidFill>
              </a:rPr>
              <a:t>, </a:t>
            </a:r>
            <a:r>
              <a:rPr lang="en-US" dirty="0" err="1">
                <a:solidFill>
                  <a:srgbClr val="1B3564"/>
                </a:solidFill>
              </a:rPr>
              <a:t>S.Kom</a:t>
            </a:r>
            <a:r>
              <a:rPr lang="en-US" dirty="0">
                <a:solidFill>
                  <a:srgbClr val="1B3564"/>
                </a:solidFill>
              </a:rPr>
              <a:t>., </a:t>
            </a:r>
            <a:r>
              <a:rPr lang="en-US" dirty="0" err="1">
                <a:solidFill>
                  <a:srgbClr val="1B3564"/>
                </a:solidFill>
              </a:rPr>
              <a:t>M.Kom</a:t>
            </a:r>
            <a:r>
              <a:rPr lang="en-US" dirty="0">
                <a:solidFill>
                  <a:srgbClr val="1B3564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50DEBE-DFEA-8CB3-4CD8-39EFDF4A2006}"/>
              </a:ext>
            </a:extLst>
          </p:cNvPr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668BC1-E2E5-9EA2-72F1-D6E84CC2E4DA}"/>
              </a:ext>
            </a:extLst>
          </p:cNvPr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56DDC2-AFE2-BC05-C1D3-C157C4F9911C}"/>
              </a:ext>
            </a:extLst>
          </p:cNvPr>
          <p:cNvSpPr txBox="1"/>
          <p:nvPr/>
        </p:nvSpPr>
        <p:spPr>
          <a:xfrm>
            <a:off x="491576" y="6224693"/>
            <a:ext cx="243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Pemrograman</a:t>
            </a:r>
            <a:r>
              <a:rPr lang="en-US" i="1" dirty="0">
                <a:solidFill>
                  <a:schemeClr val="bg1"/>
                </a:solidFill>
              </a:rPr>
              <a:t> Back-End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AD109F-0029-BD1C-2403-81283E2D0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224" y="6224693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800" smtClean="0">
                <a:solidFill>
                  <a:schemeClr val="bg1"/>
                </a:solidFill>
              </a:rPr>
              <a:t>34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5DBDBD-4C88-136F-EE0A-38B672562049}"/>
              </a:ext>
            </a:extLst>
          </p:cNvPr>
          <p:cNvSpPr txBox="1"/>
          <p:nvPr/>
        </p:nvSpPr>
        <p:spPr>
          <a:xfrm>
            <a:off x="356108" y="1347171"/>
            <a:ext cx="1067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dirty="0"/>
              <a:t>Kesimpulan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403903-018B-67BE-9A95-621E21421DCC}"/>
              </a:ext>
            </a:extLst>
          </p:cNvPr>
          <p:cNvSpPr/>
          <p:nvPr/>
        </p:nvSpPr>
        <p:spPr>
          <a:xfrm>
            <a:off x="356109" y="2210074"/>
            <a:ext cx="1041512" cy="8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7115A9-F571-AE7D-06CE-35F84E2A7722}"/>
              </a:ext>
            </a:extLst>
          </p:cNvPr>
          <p:cNvSpPr txBox="1"/>
          <p:nvPr/>
        </p:nvSpPr>
        <p:spPr>
          <a:xfrm>
            <a:off x="356108" y="2440469"/>
            <a:ext cx="53367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/>
              <a:t>Arsitektur</a:t>
            </a:r>
            <a:r>
              <a:rPr lang="en-ID" dirty="0"/>
              <a:t> backend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dibangun</a:t>
            </a:r>
            <a:r>
              <a:rPr lang="en-ID" dirty="0"/>
              <a:t> dan </a:t>
            </a:r>
            <a:r>
              <a:rPr lang="en-ID" dirty="0" err="1"/>
              <a:t>dikembangkan</a:t>
            </a:r>
            <a:r>
              <a:rPr lang="en-ID" dirty="0"/>
              <a:t>.</a:t>
            </a:r>
          </a:p>
          <a:p>
            <a:endParaRPr lang="en-ID" dirty="0"/>
          </a:p>
          <a:p>
            <a:r>
              <a:rPr lang="en-ID" dirty="0" err="1"/>
              <a:t>Semakin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:</a:t>
            </a:r>
          </a:p>
          <a:p>
            <a:r>
              <a:rPr lang="en-ID"/>
              <a:t>Semakin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arsitektur</a:t>
            </a:r>
            <a:r>
              <a:rPr lang="en-ID" dirty="0"/>
              <a:t> yang </a:t>
            </a:r>
            <a:r>
              <a:rPr lang="en-ID" dirty="0" err="1"/>
              <a:t>baik</a:t>
            </a:r>
            <a:r>
              <a:rPr lang="en-ID" dirty="0"/>
              <a:t>.</a:t>
            </a:r>
          </a:p>
          <a:p>
            <a:endParaRPr lang="en-ID" dirty="0"/>
          </a:p>
          <a:p>
            <a:r>
              <a:rPr lang="en-ID" dirty="0"/>
              <a:t>Tujuan </a:t>
            </a:r>
            <a:r>
              <a:rPr lang="en-ID" dirty="0" err="1"/>
              <a:t>akhirnya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menciptakan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yang:</a:t>
            </a:r>
          </a:p>
          <a:p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dipahami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dikembangkan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diuji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dipelihara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478365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EB0865E-F04F-9746-AAD5-2C7D653C0D3B}"/>
              </a:ext>
            </a:extLst>
          </p:cNvPr>
          <p:cNvSpPr txBox="1"/>
          <p:nvPr/>
        </p:nvSpPr>
        <p:spPr>
          <a:xfrm>
            <a:off x="998617" y="2598003"/>
            <a:ext cx="4401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100" dirty="0" err="1">
                <a:solidFill>
                  <a:schemeClr val="bg1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Terima</a:t>
            </a:r>
            <a:r>
              <a:rPr lang="en-US" sz="4800" b="1" spc="100" dirty="0">
                <a:solidFill>
                  <a:schemeClr val="bg1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 Kasih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07E052-08AE-4D4F-95C1-120B7F99B716}"/>
              </a:ext>
            </a:extLst>
          </p:cNvPr>
          <p:cNvSpPr/>
          <p:nvPr/>
        </p:nvSpPr>
        <p:spPr>
          <a:xfrm>
            <a:off x="1127208" y="3852303"/>
            <a:ext cx="720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A picture containing drawing&#10;&#10;Description automatically generated">
            <a:extLst>
              <a:ext uri="{FF2B5EF4-FFF2-40B4-BE49-F238E27FC236}">
                <a16:creationId xmlns:a16="http://schemas.microsoft.com/office/drawing/2014/main" id="{C1BEDA83-51FD-F443-8F77-2BDD58D6242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1171" y="5841246"/>
            <a:ext cx="594000" cy="594000"/>
          </a:xfrm>
          <a:prstGeom prst="rect">
            <a:avLst/>
          </a:prstGeom>
        </p:spPr>
      </p:pic>
      <p:pic>
        <p:nvPicPr>
          <p:cNvPr id="26" name="Picture 25" descr="A picture containing drawing&#10;&#10;Description automatically generated">
            <a:extLst>
              <a:ext uri="{FF2B5EF4-FFF2-40B4-BE49-F238E27FC236}">
                <a16:creationId xmlns:a16="http://schemas.microsoft.com/office/drawing/2014/main" id="{402477BB-966A-C947-8E77-73C50C59730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5211" y="5841245"/>
            <a:ext cx="594000" cy="594000"/>
          </a:xfrm>
          <a:prstGeom prst="rect">
            <a:avLst/>
          </a:prstGeom>
        </p:spPr>
      </p:pic>
      <p:pic>
        <p:nvPicPr>
          <p:cNvPr id="27" name="Picture 26" descr="A picture containing drawing&#10;&#10;Description automatically generated">
            <a:extLst>
              <a:ext uri="{FF2B5EF4-FFF2-40B4-BE49-F238E27FC236}">
                <a16:creationId xmlns:a16="http://schemas.microsoft.com/office/drawing/2014/main" id="{0EDD3A15-B610-B94E-9A2C-AF2D82C780A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712" y="5841246"/>
            <a:ext cx="594000" cy="594000"/>
          </a:xfrm>
          <a:prstGeom prst="rect">
            <a:avLst/>
          </a:prstGeom>
        </p:spPr>
      </p:pic>
      <p:pic>
        <p:nvPicPr>
          <p:cNvPr id="28" name="Picture 2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FAA27DA-EBE3-A544-ABA6-5B444F4F28B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2169" y="5841245"/>
            <a:ext cx="594000" cy="594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853E77A-5383-F448-B775-087F670A73AA}"/>
              </a:ext>
            </a:extLst>
          </p:cNvPr>
          <p:cNvSpPr txBox="1"/>
          <p:nvPr/>
        </p:nvSpPr>
        <p:spPr>
          <a:xfrm>
            <a:off x="1122959" y="6494307"/>
            <a:ext cx="1223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www.itts.ac.id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AA1907-2C14-9E4B-B918-68CFFB3ED0C1}"/>
              </a:ext>
            </a:extLst>
          </p:cNvPr>
          <p:cNvSpPr txBox="1"/>
          <p:nvPr/>
        </p:nvSpPr>
        <p:spPr>
          <a:xfrm>
            <a:off x="3558418" y="5984357"/>
            <a:ext cx="9409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ittstangsel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82BFC4-C690-534B-9396-C36791668932}"/>
              </a:ext>
            </a:extLst>
          </p:cNvPr>
          <p:cNvSpPr txBox="1"/>
          <p:nvPr/>
        </p:nvSpPr>
        <p:spPr>
          <a:xfrm>
            <a:off x="5892458" y="5984357"/>
            <a:ext cx="1101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@</a:t>
            </a:r>
            <a:r>
              <a:rPr lang="en-US" sz="1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ittstangsel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6684C0-5D66-014D-A5A8-1B9AE858E6BF}"/>
              </a:ext>
            </a:extLst>
          </p:cNvPr>
          <p:cNvSpPr txBox="1"/>
          <p:nvPr/>
        </p:nvSpPr>
        <p:spPr>
          <a:xfrm>
            <a:off x="8234732" y="5984357"/>
            <a:ext cx="28191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Institut</a:t>
            </a: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Teknologi</a:t>
            </a: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Tangerang Selatan</a:t>
            </a:r>
          </a:p>
        </p:txBody>
      </p:sp>
      <p:pic>
        <p:nvPicPr>
          <p:cNvPr id="13" name="Picture 12" descr="A picture containing graphical user interface, text&#10;&#10;Description automatically generated">
            <a:extLst>
              <a:ext uri="{FF2B5EF4-FFF2-40B4-BE49-F238E27FC236}">
                <a16:creationId xmlns:a16="http://schemas.microsoft.com/office/drawing/2014/main" id="{B1F2A1C7-D4DA-664F-A7D9-EB1D066CBF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109" y="209804"/>
            <a:ext cx="2923540" cy="74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55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18815</TotalTime>
  <Words>1182</Words>
  <Application>Microsoft Office PowerPoint</Application>
  <PresentationFormat>Widescreen</PresentationFormat>
  <Paragraphs>366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Choirul Anwar</dc:creator>
  <cp:lastModifiedBy>User</cp:lastModifiedBy>
  <cp:revision>601</cp:revision>
  <dcterms:created xsi:type="dcterms:W3CDTF">2020-09-26T10:37:16Z</dcterms:created>
  <dcterms:modified xsi:type="dcterms:W3CDTF">2026-06-29T00:54:30Z</dcterms:modified>
</cp:coreProperties>
</file>